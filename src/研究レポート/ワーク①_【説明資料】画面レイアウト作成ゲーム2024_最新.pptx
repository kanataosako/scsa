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66" r:id="rId5"/>
    <p:sldId id="262" r:id="rId6"/>
    <p:sldId id="267" r:id="rId7"/>
    <p:sldId id="265" r:id="rId8"/>
  </p:sldIdLst>
  <p:sldSz cx="9906000" cy="6858000" type="A4"/>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62">
          <p15:clr>
            <a:srgbClr val="A4A3A4"/>
          </p15:clr>
        </p15:guide>
        <p15:guide id="2" orient="horz" pos="2160">
          <p15:clr>
            <a:srgbClr val="A4A3A4"/>
          </p15:clr>
        </p15:guide>
        <p15:guide id="3" pos="597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jf3lXWQNU2z2Muv4dAm71X12O7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46FD63-C4BB-4C08-BD07-F4B92234C042}">
  <a:tblStyle styleId="{C746FD63-C4BB-4C08-BD07-F4B92234C042}" styleName="Table_0">
    <a:wholeTbl>
      <a:tcTxStyle b="off" i="off">
        <a:font>
          <a:latin typeface="Meiryo UI"/>
          <a:ea typeface="Meiryo UI"/>
          <a:cs typeface="Meiryo U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Meiryo UI"/>
          <a:ea typeface="Meiryo UI"/>
          <a:cs typeface="Meiryo UI"/>
        </a:font>
        <a:schemeClr val="lt1"/>
      </a:tcTxStyle>
      <a:tcStyle>
        <a:tcBdr/>
        <a:fill>
          <a:solidFill>
            <a:schemeClr val="accent1"/>
          </a:solidFill>
        </a:fill>
      </a:tcStyle>
    </a:lastCol>
    <a:firstCol>
      <a:tcTxStyle b="on" i="off">
        <a:font>
          <a:latin typeface="Meiryo UI"/>
          <a:ea typeface="Meiryo UI"/>
          <a:cs typeface="Meiryo UI"/>
        </a:font>
        <a:schemeClr val="lt1"/>
      </a:tcTxStyle>
      <a:tcStyle>
        <a:tcBdr/>
        <a:fill>
          <a:solidFill>
            <a:schemeClr val="accent1"/>
          </a:solidFill>
        </a:fill>
      </a:tcStyle>
    </a:firstCol>
    <a:lastRow>
      <a:tcTxStyle b="on" i="off">
        <a:font>
          <a:latin typeface="Meiryo UI"/>
          <a:ea typeface="Meiryo UI"/>
          <a:cs typeface="Meiryo U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Meiryo UI"/>
          <a:ea typeface="Meiryo UI"/>
          <a:cs typeface="Meiryo U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586" autoAdjust="0"/>
  </p:normalViewPr>
  <p:slideViewPr>
    <p:cSldViewPr snapToGrid="0">
      <p:cViewPr varScale="1">
        <p:scale>
          <a:sx n="51" d="100"/>
          <a:sy n="51" d="100"/>
        </p:scale>
        <p:origin x="1596" y="48"/>
      </p:cViewPr>
      <p:guideLst>
        <p:guide pos="262"/>
        <p:guide orient="horz" pos="2160"/>
        <p:guide pos="59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276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8" y="0"/>
            <a:ext cx="3076575" cy="51276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850"/>
            <a:ext cx="3076575" cy="51276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8" y="9721850"/>
            <a:ext cx="3076575" cy="51276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ja-JP"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では、これから画面レイアウト作成ゲームの説明させていただきます。</a:t>
            </a:r>
            <a:endParaRPr lang="en-US" altLang="ja-JP" dirty="0"/>
          </a:p>
          <a:p>
            <a:pPr marL="0" lvl="0" indent="0" algn="l" rtl="0">
              <a:lnSpc>
                <a:spcPct val="100000"/>
              </a:lnSpc>
              <a:spcBef>
                <a:spcPts val="0"/>
              </a:spcBef>
              <a:spcAft>
                <a:spcPts val="0"/>
              </a:spcAft>
              <a:buSzPts val="1400"/>
              <a:buNone/>
            </a:pPr>
            <a:r>
              <a:rPr lang="ja-JP" altLang="en-US" dirty="0"/>
              <a:t>今回みなさんには１つの画面を作っていただこうと思います。</a:t>
            </a:r>
            <a:endParaRPr dirty="0"/>
          </a:p>
        </p:txBody>
      </p:sp>
      <p:sp>
        <p:nvSpPr>
          <p:cNvPr id="49" name="Google Shape;49;p1: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2: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まず、このゲームのストーリーになります。（資料の読み上げ）</a:t>
            </a:r>
            <a:endParaRPr dirty="0"/>
          </a:p>
        </p:txBody>
      </p:sp>
      <p:sp>
        <p:nvSpPr>
          <p:cNvPr id="55" name="Google Shape;55;p2: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ヒヤリングした内容は次の通りです。（資料の読み上げ）</a:t>
            </a:r>
            <a:endParaRPr lang="en-US" altLang="ja-JP" dirty="0"/>
          </a:p>
          <a:p>
            <a:pPr marL="0" lvl="0" indent="0" algn="l" rtl="0">
              <a:lnSpc>
                <a:spcPct val="100000"/>
              </a:lnSpc>
              <a:spcBef>
                <a:spcPts val="0"/>
              </a:spcBef>
              <a:spcAft>
                <a:spcPts val="0"/>
              </a:spcAft>
              <a:buSzPts val="1400"/>
              <a:buNone/>
            </a:pPr>
            <a:r>
              <a:rPr lang="ja-JP" altLang="en-US" dirty="0"/>
              <a:t>このヒアリング内容をもとに皆さんにはレシピ検索画面を考えていただきます。</a:t>
            </a:r>
            <a:endParaRPr dirty="0"/>
          </a:p>
        </p:txBody>
      </p:sp>
      <p:sp>
        <p:nvSpPr>
          <p:cNvPr id="62" name="Google Shape;62;p3: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3: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altLang="en-US" dirty="0"/>
              <a:t>画面の表示内容として、最低限入れてほしい内容です。</a:t>
            </a:r>
            <a:endParaRPr lang="en-US" altLang="ja-JP" dirty="0"/>
          </a:p>
          <a:p>
            <a:pPr marL="0" lvl="0" indent="0" algn="l" rtl="0">
              <a:lnSpc>
                <a:spcPct val="100000"/>
              </a:lnSpc>
              <a:spcBef>
                <a:spcPts val="0"/>
              </a:spcBef>
              <a:spcAft>
                <a:spcPts val="0"/>
              </a:spcAft>
              <a:buSzPts val="1400"/>
              <a:buNone/>
            </a:pPr>
            <a:r>
              <a:rPr lang="ja-JP" altLang="en-US" dirty="0"/>
              <a:t>このほかに</a:t>
            </a:r>
            <a:r>
              <a:rPr lang="en-US" altLang="ja-JP" dirty="0" err="1"/>
              <a:t>Cera</a:t>
            </a:r>
            <a:r>
              <a:rPr lang="en-US" altLang="ja-JP" dirty="0"/>
              <a:t>-</a:t>
            </a:r>
            <a:r>
              <a:rPr lang="ja-JP" altLang="en-US" dirty="0"/>
              <a:t>ｾﾗ</a:t>
            </a:r>
            <a:r>
              <a:rPr lang="en-US" altLang="ja-JP" dirty="0"/>
              <a:t>-</a:t>
            </a:r>
            <a:r>
              <a:rPr lang="ja-JP" altLang="en-US" dirty="0"/>
              <a:t>さんやユーザが喜びそうな機能があれば自由に足していただいて結構です。</a:t>
            </a:r>
            <a:endParaRPr lang="en-US" altLang="ja-JP" dirty="0"/>
          </a:p>
          <a:p>
            <a:pPr marL="0" lvl="0" indent="0" algn="l" rtl="0">
              <a:lnSpc>
                <a:spcPct val="100000"/>
              </a:lnSpc>
              <a:spcBef>
                <a:spcPts val="0"/>
              </a:spcBef>
              <a:spcAft>
                <a:spcPts val="0"/>
              </a:spcAft>
              <a:buSzPts val="1400"/>
              <a:buNone/>
            </a:pPr>
            <a:r>
              <a:rPr lang="en-US" altLang="ja-JP" dirty="0"/>
              <a:t>※</a:t>
            </a:r>
            <a:r>
              <a:rPr lang="ja-JP" altLang="en-US" dirty="0"/>
              <a:t>また今表示している枠はあくまで入れてほしい内容を枠組みしているだけなので、</a:t>
            </a:r>
            <a:endParaRPr lang="en-US" altLang="ja-JP" dirty="0"/>
          </a:p>
          <a:p>
            <a:pPr marL="0" lvl="0" indent="0" algn="l" rtl="0">
              <a:lnSpc>
                <a:spcPct val="100000"/>
              </a:lnSpc>
              <a:spcBef>
                <a:spcPts val="0"/>
              </a:spcBef>
              <a:spcAft>
                <a:spcPts val="0"/>
              </a:spcAft>
              <a:buSzPts val="1400"/>
              <a:buNone/>
            </a:pPr>
            <a:r>
              <a:rPr lang="ja-JP" altLang="en-US" dirty="0"/>
              <a:t>　この通りに枠に当てはめるのではなく、レイアウトは各自考えて作成してください。</a:t>
            </a:r>
            <a:endParaRPr lang="en-US" altLang="ja-JP" dirty="0"/>
          </a:p>
        </p:txBody>
      </p:sp>
      <p:sp>
        <p:nvSpPr>
          <p:cNvPr id="62" name="Google Shape;62;p3: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98570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JP" altLang="en-US" dirty="0"/>
              <a:t>では、みなさんにはユーザーが使いやすい画面レイアウトを考えていただきます。</a:t>
            </a:r>
            <a:endParaRPr lang="en-US" altLang="ja-JP" dirty="0"/>
          </a:p>
          <a:p>
            <a:pPr marL="0" lvl="0" indent="0" algn="l" rtl="0">
              <a:lnSpc>
                <a:spcPct val="100000"/>
              </a:lnSpc>
              <a:spcBef>
                <a:spcPts val="0"/>
              </a:spcBef>
              <a:spcAft>
                <a:spcPts val="0"/>
              </a:spcAft>
              <a:buSzPts val="1400"/>
              <a:buNone/>
            </a:pPr>
            <a:r>
              <a:rPr lang="ja-JP" altLang="en-US" dirty="0"/>
              <a:t>ルールとしては（資料読み上げ）</a:t>
            </a:r>
            <a:endParaRPr lang="en-US" altLang="ja-JP" dirty="0"/>
          </a:p>
          <a:p>
            <a:pPr marL="0" lvl="0" indent="0" algn="l" rtl="0">
              <a:lnSpc>
                <a:spcPct val="100000"/>
              </a:lnSpc>
              <a:spcBef>
                <a:spcPts val="0"/>
              </a:spcBef>
              <a:spcAft>
                <a:spcPts val="0"/>
              </a:spcAft>
              <a:buSzPts val="1400"/>
              <a:buNone/>
            </a:pPr>
            <a:r>
              <a:rPr lang="ja-JP" altLang="en-US" dirty="0"/>
              <a:t>配布したパワーポイントの資料に、台紙のスライドがありますので、それを使っていただければと思います。</a:t>
            </a:r>
            <a:endParaRPr lang="en-US" altLang="ja-JP" dirty="0"/>
          </a:p>
          <a:p>
            <a:pPr marL="0" lvl="0" indent="0" algn="l" rtl="0">
              <a:lnSpc>
                <a:spcPct val="100000"/>
              </a:lnSpc>
              <a:spcBef>
                <a:spcPts val="0"/>
              </a:spcBef>
              <a:spcAft>
                <a:spcPts val="0"/>
              </a:spcAft>
              <a:buSzPts val="1400"/>
              <a:buNone/>
            </a:pPr>
            <a:r>
              <a:rPr lang="ja-JP" altLang="en-US" dirty="0"/>
              <a:t>また、今回作成するのは検索画面のレイアウトまでで、</a:t>
            </a:r>
            <a:endParaRPr lang="en-US" altLang="ja-JP" dirty="0"/>
          </a:p>
          <a:p>
            <a:pPr marL="0" lvl="0" indent="0" algn="l" rtl="0">
              <a:lnSpc>
                <a:spcPct val="100000"/>
              </a:lnSpc>
              <a:spcBef>
                <a:spcPts val="0"/>
              </a:spcBef>
              <a:spcAft>
                <a:spcPts val="0"/>
              </a:spcAft>
              <a:buSzPts val="1400"/>
              <a:buNone/>
            </a:pPr>
            <a:r>
              <a:rPr lang="ja-JP" altLang="en-US" dirty="0"/>
              <a:t>検索からとんだ先の、レシピの画面などはいらないです。</a:t>
            </a:r>
            <a:endParaRPr lang="en-US" altLang="ja-JP" dirty="0"/>
          </a:p>
          <a:p>
            <a:pPr marL="0" lvl="0" indent="0" algn="l" rtl="0">
              <a:lnSpc>
                <a:spcPct val="100000"/>
              </a:lnSpc>
              <a:spcBef>
                <a:spcPts val="0"/>
              </a:spcBef>
              <a:spcAft>
                <a:spcPts val="0"/>
              </a:spcAft>
              <a:buSzPts val="1400"/>
              <a:buNone/>
            </a:pPr>
            <a:endParaRPr lang="en-US" altLang="ja-JP" dirty="0"/>
          </a:p>
          <a:p>
            <a:pPr marL="0" lvl="0" indent="0" algn="l" rtl="0">
              <a:lnSpc>
                <a:spcPct val="100000"/>
              </a:lnSpc>
              <a:spcBef>
                <a:spcPts val="0"/>
              </a:spcBef>
              <a:spcAft>
                <a:spcPts val="0"/>
              </a:spcAft>
              <a:buSzPts val="1400"/>
              <a:buNone/>
            </a:pPr>
            <a:r>
              <a:rPr lang="ja-JP" altLang="en-US" dirty="0"/>
              <a:t>また、アドバイスとしては、</a:t>
            </a:r>
            <a:r>
              <a:rPr lang="ja-JP" altLang="en-US" b="1" dirty="0">
                <a:solidFill>
                  <a:schemeClr val="dk1"/>
                </a:solidFill>
              </a:rPr>
              <a:t>先に全員で配置と枠だけ決めて、それぞれの領域を分担するといいと思います。</a:t>
            </a: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b="1" dirty="0">
                <a:solidFill>
                  <a:schemeClr val="dk1"/>
                </a:solidFill>
              </a:rPr>
              <a:t>最初にレイアウトの全体像が決められるとベストだと思います！</a:t>
            </a: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b="1" dirty="0">
                <a:solidFill>
                  <a:schemeClr val="dk1"/>
                </a:solidFill>
              </a:rPr>
              <a:t>５人グループでしたら発表者</a:t>
            </a:r>
            <a:r>
              <a:rPr lang="en-US" altLang="ja-JP" b="1" dirty="0">
                <a:solidFill>
                  <a:schemeClr val="dk1"/>
                </a:solidFill>
              </a:rPr>
              <a:t>1</a:t>
            </a:r>
            <a:r>
              <a:rPr lang="ja-JP" altLang="en-US" b="1" dirty="0">
                <a:solidFill>
                  <a:schemeClr val="dk1"/>
                </a:solidFill>
              </a:rPr>
              <a:t>人の、作成者</a:t>
            </a:r>
            <a:r>
              <a:rPr lang="en-US" altLang="ja-JP" b="1" dirty="0">
                <a:solidFill>
                  <a:schemeClr val="dk1"/>
                </a:solidFill>
              </a:rPr>
              <a:t>4</a:t>
            </a:r>
            <a:r>
              <a:rPr lang="ja-JP" altLang="en-US" b="1" dirty="0">
                <a:solidFill>
                  <a:schemeClr val="dk1"/>
                </a:solidFill>
              </a:rPr>
              <a:t>人で欄ごとに分けて作成していただくとか役割分担してみてください。</a:t>
            </a: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b="1" dirty="0">
                <a:solidFill>
                  <a:schemeClr val="dk1"/>
                </a:solidFill>
              </a:rPr>
              <a:t>発表者はグループごとに</a:t>
            </a:r>
            <a:r>
              <a:rPr lang="en-US" altLang="ja-JP" b="1" dirty="0">
                <a:solidFill>
                  <a:schemeClr val="dk1"/>
                </a:solidFill>
              </a:rPr>
              <a:t>1</a:t>
            </a:r>
            <a:r>
              <a:rPr lang="ja-JP" altLang="en-US" b="1" dirty="0">
                <a:solidFill>
                  <a:schemeClr val="dk1"/>
                </a:solidFill>
              </a:rPr>
              <a:t>人でお願いします。</a:t>
            </a: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b="0" i="0" u="none" strike="noStrike" cap="none" dirty="0">
                <a:solidFill>
                  <a:schemeClr val="dk1"/>
                </a:solidFill>
                <a:sym typeface="Arial"/>
              </a:rPr>
              <a:t>作成者は仕様の意図や工夫ポイントを発表者にたくさん伝えてあげてください。</a:t>
            </a:r>
            <a:endParaRPr lang="en-US" altLang="ja-JP" b="0" i="0" u="none" strike="noStrike" cap="none" dirty="0">
              <a:solidFill>
                <a:schemeClr val="dk1"/>
              </a:solidFill>
              <a:sym typeface="Arial"/>
            </a:endParaRPr>
          </a:p>
          <a:p>
            <a:pPr marL="0" lvl="0" indent="0" algn="l" rtl="0">
              <a:lnSpc>
                <a:spcPct val="100000"/>
              </a:lnSpc>
              <a:spcBef>
                <a:spcPts val="0"/>
              </a:spcBef>
              <a:spcAft>
                <a:spcPts val="0"/>
              </a:spcAft>
              <a:buSzPts val="1400"/>
              <a:buNone/>
            </a:pP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dirty="0"/>
              <a:t>役割分担をしないと時間が足りなくなるということと、作成後、画面は</a:t>
            </a:r>
            <a:r>
              <a:rPr lang="en-US" altLang="ja-JP" dirty="0"/>
              <a:t>1</a:t>
            </a:r>
            <a:r>
              <a:rPr lang="ja-JP" altLang="en-US" dirty="0"/>
              <a:t>枚にまとめる必要があるので、</a:t>
            </a:r>
            <a:endParaRPr lang="en-US" altLang="ja-JP" dirty="0"/>
          </a:p>
          <a:p>
            <a:pPr marL="0" lvl="0" indent="0" algn="l" rtl="0">
              <a:lnSpc>
                <a:spcPct val="100000"/>
              </a:lnSpc>
              <a:spcBef>
                <a:spcPts val="0"/>
              </a:spcBef>
              <a:spcAft>
                <a:spcPts val="0"/>
              </a:spcAft>
              <a:buSzPts val="1400"/>
              <a:buNone/>
            </a:pPr>
            <a:r>
              <a:rPr lang="ja-JP" altLang="en-US" dirty="0"/>
              <a:t>最後まとめる時間も確保できるように時間配分を考えてみてください。</a:t>
            </a:r>
            <a:endParaRPr lang="en-US" altLang="ja-JP" dirty="0"/>
          </a:p>
          <a:p>
            <a:pPr marL="0" lvl="0" indent="0" algn="l" rtl="0">
              <a:lnSpc>
                <a:spcPct val="100000"/>
              </a:lnSpc>
              <a:spcBef>
                <a:spcPts val="0"/>
              </a:spcBef>
              <a:spcAft>
                <a:spcPts val="0"/>
              </a:spcAft>
              <a:buSzPts val="1400"/>
              <a:buNone/>
            </a:pPr>
            <a:r>
              <a:rPr lang="ja-JP" altLang="en-US" dirty="0"/>
              <a:t>また、レイアウトは一般的な</a:t>
            </a:r>
            <a:r>
              <a:rPr lang="en-US" altLang="ja-JP" dirty="0"/>
              <a:t>HP</a:t>
            </a:r>
            <a:r>
              <a:rPr lang="ja-JP" altLang="en-US" dirty="0"/>
              <a:t>を参考にしていただいてもかまいません。画像などもフリーでしたら何でも使って大丈夫です。</a:t>
            </a:r>
            <a:endParaRPr lang="en-US" altLang="ja-JP" dirty="0"/>
          </a:p>
          <a:p>
            <a:pPr marL="0" lvl="0" indent="0" algn="l" rtl="0">
              <a:lnSpc>
                <a:spcPct val="100000"/>
              </a:lnSpc>
              <a:spcBef>
                <a:spcPts val="0"/>
              </a:spcBef>
              <a:spcAft>
                <a:spcPts val="0"/>
              </a:spcAft>
              <a:buSzPts val="1400"/>
              <a:buNone/>
            </a:pPr>
            <a:endParaRPr lang="en-US" altLang="ja-JP" b="1" dirty="0">
              <a:solidFill>
                <a:schemeClr val="dk1"/>
              </a:solidFill>
            </a:endParaRPr>
          </a:p>
          <a:p>
            <a:pPr marL="0" lvl="0" indent="0" algn="l" rtl="0">
              <a:lnSpc>
                <a:spcPct val="100000"/>
              </a:lnSpc>
              <a:spcBef>
                <a:spcPts val="0"/>
              </a:spcBef>
              <a:spcAft>
                <a:spcPts val="0"/>
              </a:spcAft>
              <a:buSzPts val="1400"/>
              <a:buNone/>
            </a:pPr>
            <a:endParaRPr lang="en-US" altLang="ja-JP" b="1" dirty="0">
              <a:solidFill>
                <a:schemeClr val="dk1"/>
              </a:solidFill>
            </a:endParaRPr>
          </a:p>
          <a:p>
            <a:pPr marL="0" lvl="0" indent="0" algn="l" rtl="0">
              <a:lnSpc>
                <a:spcPct val="100000"/>
              </a:lnSpc>
              <a:spcBef>
                <a:spcPts val="0"/>
              </a:spcBef>
              <a:spcAft>
                <a:spcPts val="0"/>
              </a:spcAft>
              <a:buSzPts val="1400"/>
              <a:buNone/>
            </a:pPr>
            <a:r>
              <a:rPr lang="ja-JP" altLang="en-US" b="0" dirty="0">
                <a:solidFill>
                  <a:schemeClr val="dk1"/>
                </a:solidFill>
              </a:rPr>
              <a:t>また、今回のワークで大事なことは制限時間内に成果物をまとめることや、</a:t>
            </a:r>
            <a:endParaRPr lang="en-US" altLang="ja-JP" b="0"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0" i="0" u="none" strike="noStrike" cap="none" dirty="0">
                <a:solidFill>
                  <a:schemeClr val="dk1"/>
                </a:solidFill>
                <a:sym typeface="Arial"/>
              </a:rPr>
              <a:t>ユーザーインターフェース</a:t>
            </a:r>
            <a:r>
              <a:rPr lang="en-US" altLang="ja-JP" b="0" i="0" u="none" strike="noStrike" cap="none" dirty="0">
                <a:solidFill>
                  <a:schemeClr val="dk1"/>
                </a:solidFill>
                <a:sym typeface="Arial"/>
              </a:rPr>
              <a:t>(</a:t>
            </a:r>
            <a:r>
              <a:rPr lang="ja-JP" altLang="en-US" b="0" i="0" u="none" strike="noStrike" cap="none" dirty="0">
                <a:solidFill>
                  <a:schemeClr val="dk1"/>
                </a:solidFill>
                <a:sym typeface="Arial"/>
              </a:rPr>
              <a:t>ユーザーの見やすさ、使いやすさ</a:t>
            </a:r>
            <a:r>
              <a:rPr lang="en-US" altLang="ja-JP" b="0" i="0" u="none" strike="noStrike" cap="none" dirty="0">
                <a:solidFill>
                  <a:schemeClr val="dk1"/>
                </a:solidFill>
                <a:sym typeface="Arial"/>
              </a:rPr>
              <a:t>)</a:t>
            </a:r>
            <a:r>
              <a:rPr lang="ja-JP" altLang="en-US" b="0" i="0" u="none" strike="noStrike" cap="none" dirty="0">
                <a:solidFill>
                  <a:schemeClr val="dk1"/>
                </a:solidFill>
                <a:sym typeface="Arial"/>
              </a:rPr>
              <a:t>を意識したデザインをすることです。</a:t>
            </a:r>
            <a:endParaRPr lang="en-US" altLang="ja-JP" b="0" i="0" u="none" strike="noStrike" cap="none" dirty="0">
              <a:solidFill>
                <a:schemeClr val="dk1"/>
              </a:solidFill>
              <a:sym typeface="Arial"/>
            </a:endParaRPr>
          </a:p>
          <a:p>
            <a:pPr marL="0" lvl="0" indent="0" algn="l" rtl="0">
              <a:lnSpc>
                <a:spcPct val="100000"/>
              </a:lnSpc>
              <a:spcBef>
                <a:spcPts val="0"/>
              </a:spcBef>
              <a:spcAft>
                <a:spcPts val="0"/>
              </a:spcAft>
              <a:buSzPts val="1400"/>
              <a:buNone/>
            </a:pPr>
            <a:r>
              <a:rPr lang="ja-JP" altLang="en-US" b="0" dirty="0">
                <a:solidFill>
                  <a:schemeClr val="dk1"/>
                </a:solidFill>
              </a:rPr>
              <a:t>お客様の要望を叶えるにプラスでお客様が思いつかないようなアイデアがあるといいと思います！</a:t>
            </a:r>
            <a:endParaRPr lang="en-US" altLang="ja-JP" b="0" dirty="0">
              <a:solidFill>
                <a:schemeClr val="dk1"/>
              </a:solidFill>
            </a:endParaRPr>
          </a:p>
          <a:p>
            <a:pPr marL="0" lvl="0" indent="0" algn="l" rtl="0">
              <a:lnSpc>
                <a:spcPct val="100000"/>
              </a:lnSpc>
              <a:spcBef>
                <a:spcPts val="0"/>
              </a:spcBef>
              <a:spcAft>
                <a:spcPts val="0"/>
              </a:spcAft>
              <a:buSzPts val="1400"/>
              <a:buNone/>
            </a:pPr>
            <a:endParaRPr lang="en-US" altLang="ja-JP" b="0" dirty="0">
              <a:solidFill>
                <a:schemeClr val="dk1"/>
              </a:solidFill>
            </a:endParaRPr>
          </a:p>
          <a:p>
            <a:pPr marL="0" lvl="0" indent="0" algn="l" rtl="0">
              <a:lnSpc>
                <a:spcPct val="100000"/>
              </a:lnSpc>
              <a:spcBef>
                <a:spcPts val="0"/>
              </a:spcBef>
              <a:spcAft>
                <a:spcPts val="0"/>
              </a:spcAft>
              <a:buSzPts val="1400"/>
              <a:buNone/>
            </a:pPr>
            <a:r>
              <a:rPr lang="ja-JP" altLang="en-US" b="0" dirty="0">
                <a:solidFill>
                  <a:schemeClr val="dk1"/>
                </a:solidFill>
              </a:rPr>
              <a:t>では、制限時間は○○分とさせて</a:t>
            </a:r>
            <a:r>
              <a:rPr lang="ja-JP" altLang="en-US" b="0">
                <a:solidFill>
                  <a:schemeClr val="dk1"/>
                </a:solidFill>
              </a:rPr>
              <a:t>いただきます！各自、ブレイクアウトルームに移動して、作成を始めてください！</a:t>
            </a:r>
            <a:endParaRPr lang="en-US" altLang="ja-JP" b="0" dirty="0">
              <a:solidFill>
                <a:schemeClr val="dk1"/>
              </a:solidFill>
            </a:endParaRPr>
          </a:p>
        </p:txBody>
      </p:sp>
      <p:sp>
        <p:nvSpPr>
          <p:cNvPr id="136" name="Google Shape;136;p7: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smtClean="0">
                <a:solidFill>
                  <a:schemeClr val="dk1"/>
                </a:solidFill>
                <a:latin typeface="Calibri"/>
                <a:ea typeface="Calibri"/>
                <a:cs typeface="Calibri"/>
                <a:sym typeface="Calibri"/>
              </a:rPr>
              <a:t>6</a:t>
            </a:fld>
            <a:endParaRPr lang="ja-JP" alt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0934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709613" y="4926013"/>
            <a:ext cx="5680075"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9:notes"/>
          <p:cNvSpPr>
            <a:spLocks noGrp="1" noRot="1" noChangeAspect="1"/>
          </p:cNvSpPr>
          <p:nvPr>
            <p:ph type="sldImg" idx="2"/>
          </p:nvPr>
        </p:nvSpPr>
        <p:spPr>
          <a:xfrm>
            <a:off x="1054100" y="1279525"/>
            <a:ext cx="499110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6" name="正方形/長方形 5"/>
          <p:cNvSpPr/>
          <p:nvPr userDrawn="1"/>
        </p:nvSpPr>
        <p:spPr>
          <a:xfrm>
            <a:off x="208280" y="182880"/>
            <a:ext cx="9489440" cy="6492240"/>
          </a:xfrm>
          <a:prstGeom prst="rect">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0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表紙" type="blank">
  <p:cSld name="BLANK">
    <p:spTree>
      <p:nvGrpSpPr>
        <p:cNvPr id="1" name="Shape 15"/>
        <p:cNvGrpSpPr/>
        <p:nvPr/>
      </p:nvGrpSpPr>
      <p:grpSpPr>
        <a:xfrm>
          <a:off x="0" y="0"/>
          <a:ext cx="0" cy="0"/>
          <a:chOff x="0" y="0"/>
          <a:chExt cx="0" cy="0"/>
        </a:xfrm>
      </p:grpSpPr>
      <p:pic>
        <p:nvPicPr>
          <p:cNvPr id="16" name="Google Shape;16;p11"/>
          <p:cNvPicPr preferRelativeResize="0"/>
          <p:nvPr/>
        </p:nvPicPr>
        <p:blipFill rotWithShape="1">
          <a:blip r:embed="rId2">
            <a:alphaModFix/>
          </a:blip>
          <a:srcRect r="79713"/>
          <a:stretch/>
        </p:blipFill>
        <p:spPr>
          <a:xfrm>
            <a:off x="184" y="0"/>
            <a:ext cx="2009592" cy="6858000"/>
          </a:xfrm>
          <a:prstGeom prst="rect">
            <a:avLst/>
          </a:prstGeom>
          <a:noFill/>
          <a:ln>
            <a:noFill/>
          </a:ln>
        </p:spPr>
      </p:pic>
      <p:pic>
        <p:nvPicPr>
          <p:cNvPr id="17" name="Google Shape;17;p11"/>
          <p:cNvPicPr preferRelativeResize="0"/>
          <p:nvPr/>
        </p:nvPicPr>
        <p:blipFill rotWithShape="1">
          <a:blip r:embed="rId3">
            <a:alphaModFix/>
          </a:blip>
          <a:srcRect/>
          <a:stretch/>
        </p:blipFill>
        <p:spPr>
          <a:xfrm>
            <a:off x="7514433" y="309793"/>
            <a:ext cx="2040955" cy="801003"/>
          </a:xfrm>
          <a:prstGeom prst="rect">
            <a:avLst/>
          </a:prstGeom>
          <a:noFill/>
          <a:ln>
            <a:noFill/>
          </a:ln>
        </p:spPr>
      </p:pic>
      <p:sp>
        <p:nvSpPr>
          <p:cNvPr id="18" name="Google Shape;18;p11"/>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コンテンツ（装飾あり）">
  <p:cSld name="コンテンツ（装飾あり）">
    <p:spTree>
      <p:nvGrpSpPr>
        <p:cNvPr id="1" name="Shape 19"/>
        <p:cNvGrpSpPr/>
        <p:nvPr/>
      </p:nvGrpSpPr>
      <p:grpSpPr>
        <a:xfrm>
          <a:off x="0" y="0"/>
          <a:ext cx="0" cy="0"/>
          <a:chOff x="0" y="0"/>
          <a:chExt cx="0" cy="0"/>
        </a:xfrm>
      </p:grpSpPr>
      <p:pic>
        <p:nvPicPr>
          <p:cNvPr id="20" name="Google Shape;20;p12"/>
          <p:cNvPicPr preferRelativeResize="0"/>
          <p:nvPr/>
        </p:nvPicPr>
        <p:blipFill rotWithShape="1">
          <a:blip r:embed="rId2">
            <a:alphaModFix/>
          </a:blip>
          <a:srcRect l="4933" r="87504"/>
          <a:stretch/>
        </p:blipFill>
        <p:spPr>
          <a:xfrm>
            <a:off x="0" y="132"/>
            <a:ext cx="749300" cy="6857868"/>
          </a:xfrm>
          <a:prstGeom prst="rect">
            <a:avLst/>
          </a:prstGeom>
          <a:noFill/>
          <a:ln>
            <a:noFill/>
          </a:ln>
        </p:spPr>
      </p:pic>
      <p:grpSp>
        <p:nvGrpSpPr>
          <p:cNvPr id="21" name="Google Shape;21;p12"/>
          <p:cNvGrpSpPr/>
          <p:nvPr/>
        </p:nvGrpSpPr>
        <p:grpSpPr>
          <a:xfrm>
            <a:off x="944165" y="694895"/>
            <a:ext cx="8545909" cy="46800"/>
            <a:chOff x="944165" y="694895"/>
            <a:chExt cx="8545909" cy="71438"/>
          </a:xfrm>
        </p:grpSpPr>
        <p:sp>
          <p:nvSpPr>
            <p:cNvPr id="22" name="Google Shape;22;p12"/>
            <p:cNvSpPr/>
            <p:nvPr/>
          </p:nvSpPr>
          <p:spPr>
            <a:xfrm>
              <a:off x="944165" y="694895"/>
              <a:ext cx="8545909"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23" name="Google Shape;23;p12"/>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24" name="Google Shape;24;p12"/>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25" name="Google Shape;25;p12"/>
          <p:cNvSpPr/>
          <p:nvPr/>
        </p:nvSpPr>
        <p:spPr>
          <a:xfrm>
            <a:off x="4728965" y="6625546"/>
            <a:ext cx="448071"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 name="Google Shape;26;p12"/>
          <p:cNvSpPr/>
          <p:nvPr/>
        </p:nvSpPr>
        <p:spPr>
          <a:xfrm>
            <a:off x="944166" y="6554936"/>
            <a:ext cx="8546400" cy="18000"/>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27" name="Google Shape;27;p12"/>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28" name="Google Shape;28;p12"/>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p:nvPr/>
        </p:nvSpPr>
        <p:spPr>
          <a:xfrm>
            <a:off x="8396485" y="166688"/>
            <a:ext cx="1142619" cy="276565"/>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0" name="Google Shape;30;p12"/>
          <p:cNvPicPr preferRelativeResize="0"/>
          <p:nvPr/>
        </p:nvPicPr>
        <p:blipFill rotWithShape="1">
          <a:blip r:embed="rId3">
            <a:alphaModFix/>
          </a:blip>
          <a:srcRect/>
          <a:stretch/>
        </p:blipFill>
        <p:spPr>
          <a:xfrm>
            <a:off x="8212435" y="148185"/>
            <a:ext cx="1326669" cy="509717"/>
          </a:xfrm>
          <a:prstGeom prst="rect">
            <a:avLst/>
          </a:prstGeom>
          <a:noFill/>
          <a:ln>
            <a:noFill/>
          </a:ln>
        </p:spPr>
      </p:pic>
      <p:sp>
        <p:nvSpPr>
          <p:cNvPr id="31" name="Google Shape;31;p12"/>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締め">
  <p:cSld name="締め">
    <p:spTree>
      <p:nvGrpSpPr>
        <p:cNvPr id="1" name="Shape 32"/>
        <p:cNvGrpSpPr/>
        <p:nvPr/>
      </p:nvGrpSpPr>
      <p:grpSpPr>
        <a:xfrm>
          <a:off x="0" y="0"/>
          <a:ext cx="0" cy="0"/>
          <a:chOff x="0" y="0"/>
          <a:chExt cx="0" cy="0"/>
        </a:xfrm>
      </p:grpSpPr>
      <p:pic>
        <p:nvPicPr>
          <p:cNvPr id="33" name="Google Shape;33;p13"/>
          <p:cNvPicPr preferRelativeResize="0"/>
          <p:nvPr/>
        </p:nvPicPr>
        <p:blipFill rotWithShape="1">
          <a:blip r:embed="rId2">
            <a:alphaModFix/>
          </a:blip>
          <a:srcRect r="79713"/>
          <a:stretch/>
        </p:blipFill>
        <p:spPr>
          <a:xfrm rot="10800000">
            <a:off x="7896408" y="0"/>
            <a:ext cx="2009592" cy="6858000"/>
          </a:xfrm>
          <a:prstGeom prst="rect">
            <a:avLst/>
          </a:prstGeom>
          <a:noFill/>
          <a:ln>
            <a:noFill/>
          </a:ln>
        </p:spPr>
      </p:pic>
      <p:pic>
        <p:nvPicPr>
          <p:cNvPr id="34" name="Google Shape;34;p13"/>
          <p:cNvPicPr preferRelativeResize="0"/>
          <p:nvPr/>
        </p:nvPicPr>
        <p:blipFill rotWithShape="1">
          <a:blip r:embed="rId3">
            <a:alphaModFix/>
          </a:blip>
          <a:srcRect/>
          <a:stretch/>
        </p:blipFill>
        <p:spPr>
          <a:xfrm>
            <a:off x="2168098" y="2296622"/>
            <a:ext cx="4081046" cy="1601666"/>
          </a:xfrm>
          <a:prstGeom prst="rect">
            <a:avLst/>
          </a:prstGeom>
          <a:noFill/>
          <a:ln>
            <a:noFill/>
          </a:ln>
        </p:spPr>
      </p:pic>
      <p:sp>
        <p:nvSpPr>
          <p:cNvPr id="35" name="Google Shape;35;p13"/>
          <p:cNvSpPr/>
          <p:nvPr/>
        </p:nvSpPr>
        <p:spPr>
          <a:xfrm>
            <a:off x="5964067"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コンテンツ（装飾なし）">
  <p:cSld name="コンテンツ（装飾なし）">
    <p:spTree>
      <p:nvGrpSpPr>
        <p:cNvPr id="1" name="Shape 36"/>
        <p:cNvGrpSpPr/>
        <p:nvPr/>
      </p:nvGrpSpPr>
      <p:grpSpPr>
        <a:xfrm>
          <a:off x="0" y="0"/>
          <a:ext cx="0" cy="0"/>
          <a:chOff x="0" y="0"/>
          <a:chExt cx="0" cy="0"/>
        </a:xfrm>
      </p:grpSpPr>
      <p:grpSp>
        <p:nvGrpSpPr>
          <p:cNvPr id="37" name="Google Shape;37;p14"/>
          <p:cNvGrpSpPr/>
          <p:nvPr/>
        </p:nvGrpSpPr>
        <p:grpSpPr>
          <a:xfrm>
            <a:off x="415924" y="694895"/>
            <a:ext cx="9072000" cy="46800"/>
            <a:chOff x="415924" y="694895"/>
            <a:chExt cx="9072000" cy="71438"/>
          </a:xfrm>
        </p:grpSpPr>
        <p:sp>
          <p:nvSpPr>
            <p:cNvPr id="38" name="Google Shape;38;p14"/>
            <p:cNvSpPr/>
            <p:nvPr/>
          </p:nvSpPr>
          <p:spPr>
            <a:xfrm>
              <a:off x="415924" y="694895"/>
              <a:ext cx="9072000" cy="71438"/>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39" name="Google Shape;39;p14"/>
            <p:cNvSpPr/>
            <p:nvPr/>
          </p:nvSpPr>
          <p:spPr>
            <a:xfrm>
              <a:off x="919996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sp>
          <p:nvSpPr>
            <p:cNvPr id="40" name="Google Shape;40;p14"/>
            <p:cNvSpPr/>
            <p:nvPr/>
          </p:nvSpPr>
          <p:spPr>
            <a:xfrm>
              <a:off x="9346489" y="694895"/>
              <a:ext cx="72157" cy="71438"/>
            </a:xfrm>
            <a:prstGeom prst="rect">
              <a:avLst/>
            </a:prstGeom>
            <a:solidFill>
              <a:srgbClr val="EBEEF1"/>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1" i="0" u="none" strike="noStrike" cap="none">
                <a:solidFill>
                  <a:schemeClr val="dk1"/>
                </a:solidFill>
                <a:latin typeface="Arial"/>
                <a:ea typeface="Arial"/>
                <a:cs typeface="Arial"/>
                <a:sym typeface="Arial"/>
              </a:endParaRPr>
            </a:p>
          </p:txBody>
        </p:sp>
      </p:grpSp>
      <p:sp>
        <p:nvSpPr>
          <p:cNvPr id="41" name="Google Shape;41;p14"/>
          <p:cNvSpPr/>
          <p:nvPr/>
        </p:nvSpPr>
        <p:spPr>
          <a:xfrm>
            <a:off x="4728965" y="6625546"/>
            <a:ext cx="448071" cy="126914"/>
          </a:xfrm>
          <a:prstGeom prst="parallelogram">
            <a:avLst>
              <a:gd name="adj" fmla="val 64235"/>
            </a:avLst>
          </a:prstGeom>
          <a:solidFill>
            <a:srgbClr val="D8D8D8"/>
          </a:solidFill>
          <a:ln>
            <a:noFill/>
          </a:ln>
          <a:effectLst>
            <a:outerShdw blurRad="12700" dist="12700" dir="2400000" algn="ctr" rotWithShape="0">
              <a:srgbClr val="000000">
                <a:alpha val="6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2" name="Google Shape;42;p14"/>
          <p:cNvSpPr/>
          <p:nvPr/>
        </p:nvSpPr>
        <p:spPr>
          <a:xfrm>
            <a:off x="415924" y="6554936"/>
            <a:ext cx="9072000" cy="18000"/>
          </a:xfrm>
          <a:prstGeom prst="rect">
            <a:avLst/>
          </a:prstGeom>
          <a:solidFill>
            <a:srgbClr val="FF2540"/>
          </a:solidFill>
          <a:ln>
            <a:noFill/>
          </a:ln>
        </p:spPr>
        <p:txBody>
          <a:bodyPr spcFirstLastPara="1" wrap="square" lIns="25200" tIns="25200" rIns="25200" bIns="25200" anchor="ctr" anchorCtr="0">
            <a:noAutofit/>
          </a:bodyPr>
          <a:lstStyle/>
          <a:p>
            <a:pPr marL="284163" marR="0" lvl="0" indent="-284163" algn="ctr" rtl="0">
              <a:lnSpc>
                <a:spcPct val="90000"/>
              </a:lnSpc>
              <a:spcBef>
                <a:spcPts val="0"/>
              </a:spcBef>
              <a:spcAft>
                <a:spcPts val="0"/>
              </a:spcAft>
              <a:buClr>
                <a:srgbClr val="C09B00"/>
              </a:buClr>
              <a:buSzPts val="900"/>
              <a:buFont typeface="Arial"/>
              <a:buNone/>
            </a:pPr>
            <a:endParaRPr sz="900" b="0" i="0" u="none" strike="noStrike" cap="none">
              <a:solidFill>
                <a:schemeClr val="dk1"/>
              </a:solidFill>
              <a:latin typeface="Arial"/>
              <a:ea typeface="Arial"/>
              <a:cs typeface="Arial"/>
              <a:sym typeface="Arial"/>
            </a:endParaRPr>
          </a:p>
        </p:txBody>
      </p:sp>
      <p:sp>
        <p:nvSpPr>
          <p:cNvPr id="43" name="Google Shape;43;p14"/>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ja-JP"/>
              <a:t>‹#›</a:t>
            </a:fld>
            <a:endParaRPr/>
          </a:p>
        </p:txBody>
      </p:sp>
      <p:sp>
        <p:nvSpPr>
          <p:cNvPr id="44" name="Google Shape;44;p14"/>
          <p:cNvSpPr txBox="1">
            <a:spLocks noGrp="1"/>
          </p:cNvSpPr>
          <p:nvPr>
            <p:ph type="title"/>
          </p:nvPr>
        </p:nvSpPr>
        <p:spPr>
          <a:xfrm>
            <a:off x="435384" y="127450"/>
            <a:ext cx="7671385" cy="6316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rial"/>
              <a:buNone/>
              <a:defRPr sz="2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5" name="Google Shape;45;p14"/>
          <p:cNvPicPr preferRelativeResize="0"/>
          <p:nvPr/>
        </p:nvPicPr>
        <p:blipFill rotWithShape="1">
          <a:blip r:embed="rId2">
            <a:alphaModFix/>
          </a:blip>
          <a:srcRect/>
          <a:stretch/>
        </p:blipFill>
        <p:spPr>
          <a:xfrm>
            <a:off x="8212435" y="148185"/>
            <a:ext cx="1326669" cy="509717"/>
          </a:xfrm>
          <a:prstGeom prst="rect">
            <a:avLst/>
          </a:prstGeom>
          <a:noFill/>
          <a:ln>
            <a:noFill/>
          </a:ln>
        </p:spPr>
      </p:pic>
      <p:sp>
        <p:nvSpPr>
          <p:cNvPr id="46" name="Google Shape;46;p14"/>
          <p:cNvSpPr/>
          <p:nvPr/>
        </p:nvSpPr>
        <p:spPr>
          <a:xfrm>
            <a:off x="6837528" y="6625061"/>
            <a:ext cx="2652547" cy="135422"/>
          </a:xfrm>
          <a:prstGeom prst="rect">
            <a:avLst/>
          </a:prstGeom>
          <a:noFill/>
          <a:ln>
            <a:noFill/>
          </a:ln>
        </p:spPr>
        <p:txBody>
          <a:bodyPr spcFirstLastPara="1" wrap="square" lIns="0" tIns="0" rIns="0" bIns="0" anchor="b" anchorCtr="0">
            <a:spAutoFit/>
          </a:bodyPr>
          <a:lstStyle/>
          <a:p>
            <a:pPr marL="0" marR="0" lvl="0" indent="0" algn="r" rtl="0">
              <a:lnSpc>
                <a:spcPct val="110000"/>
              </a:lnSpc>
              <a:spcBef>
                <a:spcPts val="0"/>
              </a:spcBef>
              <a:spcAft>
                <a:spcPts val="0"/>
              </a:spcAft>
              <a:buClr>
                <a:srgbClr val="0C0C0C"/>
              </a:buClr>
              <a:buSzPts val="800"/>
              <a:buFont typeface="Arial"/>
              <a:buNone/>
            </a:pPr>
            <a:r>
              <a:rPr lang="ja-JP" sz="800" b="0" i="0" u="none" strike="noStrike" cap="none">
                <a:solidFill>
                  <a:srgbClr val="0C0C0C"/>
                </a:solidFill>
                <a:latin typeface="Arial"/>
                <a:ea typeface="Arial"/>
                <a:cs typeface="Arial"/>
                <a:sym typeface="Arial"/>
              </a:rPr>
              <a:t>© KYOCERA Communication Systems Co., Ltd.</a:t>
            </a:r>
            <a:endParaRPr sz="800" b="0" i="0" u="none" strike="noStrike" cap="none">
              <a:solidFill>
                <a:srgbClr val="0C0C0C"/>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681038" y="365127"/>
            <a:ext cx="854392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681038" y="1825625"/>
            <a:ext cx="8543925"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
          <p:cNvSpPr txBox="1">
            <a:spLocks noGrp="1"/>
          </p:cNvSpPr>
          <p:nvPr>
            <p:ph type="dt" idx="10"/>
          </p:nvPr>
        </p:nvSpPr>
        <p:spPr>
          <a:xfrm>
            <a:off x="681038" y="6356352"/>
            <a:ext cx="222885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3281363" y="6356352"/>
            <a:ext cx="3343275"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sldNum" idx="12"/>
          </p:nvPr>
        </p:nvSpPr>
        <p:spPr>
          <a:xfrm>
            <a:off x="6996113" y="6356352"/>
            <a:ext cx="222885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53"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4.gif"/><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p:nvPr/>
        </p:nvSpPr>
        <p:spPr>
          <a:xfrm>
            <a:off x="1510233" y="2980419"/>
            <a:ext cx="7632700" cy="381000"/>
          </a:xfrm>
          <a:prstGeom prst="rect">
            <a:avLst/>
          </a:prstGeom>
          <a:noFill/>
          <a:ln>
            <a:noFill/>
          </a:ln>
        </p:spPr>
        <p:txBody>
          <a:bodyPr spcFirstLastPara="1" wrap="square" lIns="0" tIns="0" rIns="0" bIns="0" anchor="ctr" anchorCtr="0">
            <a:noAutofit/>
          </a:bodyPr>
          <a:lstStyle/>
          <a:p>
            <a:pPr marL="342900" marR="0" lvl="0" indent="-342900" algn="ctr" rtl="0">
              <a:lnSpc>
                <a:spcPct val="80000"/>
              </a:lnSpc>
              <a:spcBef>
                <a:spcPts val="0"/>
              </a:spcBef>
              <a:spcAft>
                <a:spcPts val="0"/>
              </a:spcAft>
              <a:buClr>
                <a:srgbClr val="B70031"/>
              </a:buClr>
              <a:buSzPts val="3000"/>
              <a:buFont typeface="Noto Sans Symbols"/>
              <a:buNone/>
            </a:pPr>
            <a:r>
              <a:rPr lang="ja-JP" sz="4000" b="1" i="0" u="none" strike="noStrike" cap="none" dirty="0">
                <a:solidFill>
                  <a:srgbClr val="0C0C0C"/>
                </a:solidFill>
                <a:latin typeface="Arial"/>
                <a:ea typeface="Arial"/>
                <a:cs typeface="Arial"/>
                <a:sym typeface="Arial"/>
              </a:rPr>
              <a:t>★</a:t>
            </a:r>
            <a:r>
              <a:rPr lang="ja-JP" altLang="en-US" sz="4000" b="1" dirty="0">
                <a:solidFill>
                  <a:srgbClr val="0C0C0C"/>
                </a:solidFill>
              </a:rPr>
              <a:t>画面レイアウト作成</a:t>
            </a:r>
            <a:r>
              <a:rPr lang="ja-JP" sz="4000" b="1" i="0" u="none" strike="noStrike" cap="none" dirty="0">
                <a:solidFill>
                  <a:srgbClr val="0C0C0C"/>
                </a:solidFill>
                <a:latin typeface="Arial"/>
                <a:ea typeface="Arial"/>
                <a:cs typeface="Arial"/>
                <a:sym typeface="Arial"/>
              </a:rPr>
              <a:t>ゲーム★</a:t>
            </a:r>
            <a:endParaRPr sz="4000" b="1" i="0" u="none" strike="noStrike" cap="none" dirty="0">
              <a:solidFill>
                <a:srgbClr val="0C0C0C"/>
              </a:solidFill>
              <a:latin typeface="Arial"/>
              <a:ea typeface="Arial"/>
              <a:cs typeface="Arial"/>
              <a:sym typeface="Arial"/>
            </a:endParaRPr>
          </a:p>
        </p:txBody>
      </p:sp>
      <p:sp>
        <p:nvSpPr>
          <p:cNvPr id="52" name="Google Shape;52;p1"/>
          <p:cNvSpPr/>
          <p:nvPr/>
        </p:nvSpPr>
        <p:spPr>
          <a:xfrm>
            <a:off x="5460023" y="5039180"/>
            <a:ext cx="4030052" cy="24622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dirty="0">
                <a:solidFill>
                  <a:schemeClr val="dk1"/>
                </a:solidFill>
                <a:latin typeface="Calibri"/>
                <a:ea typeface="Calibri"/>
                <a:cs typeface="Calibri"/>
                <a:sym typeface="Calibri"/>
              </a:rPr>
              <a:t>202</a:t>
            </a:r>
            <a:r>
              <a:rPr lang="en-US" altLang="ja-JP" sz="1600" b="0" i="0" u="none" strike="noStrike" cap="none" dirty="0">
                <a:solidFill>
                  <a:schemeClr val="dk1"/>
                </a:solidFill>
                <a:latin typeface="Calibri"/>
                <a:ea typeface="Calibri"/>
                <a:cs typeface="Calibri"/>
                <a:sym typeface="Calibri"/>
              </a:rPr>
              <a:t>4</a:t>
            </a:r>
            <a:r>
              <a:rPr lang="ja-JP" sz="1600" b="0" i="0" u="none" strike="noStrike" cap="none" dirty="0">
                <a:solidFill>
                  <a:schemeClr val="dk1"/>
                </a:solidFill>
                <a:latin typeface="Calibri"/>
                <a:ea typeface="Calibri"/>
                <a:cs typeface="Calibri"/>
                <a:sym typeface="Calibri"/>
              </a:rPr>
              <a:t>年　KCCS冬季インターンシップ資料</a:t>
            </a:r>
            <a:endParaRPr sz="16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2"/>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2</a:t>
            </a:fld>
            <a:endParaRPr/>
          </a:p>
        </p:txBody>
      </p:sp>
      <p:sp>
        <p:nvSpPr>
          <p:cNvPr id="58" name="Google Shape;58;p2"/>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t>ストーリー</a:t>
            </a:r>
            <a:endParaRPr/>
          </a:p>
        </p:txBody>
      </p:sp>
      <p:sp>
        <p:nvSpPr>
          <p:cNvPr id="59" name="Google Shape;59;p2"/>
          <p:cNvSpPr txBox="1"/>
          <p:nvPr/>
        </p:nvSpPr>
        <p:spPr>
          <a:xfrm>
            <a:off x="1226374" y="1158314"/>
            <a:ext cx="4542127" cy="4702053"/>
          </a:xfrm>
          <a:prstGeom prst="rect">
            <a:avLst/>
          </a:prstGeom>
          <a:noFill/>
          <a:ln>
            <a:noFill/>
          </a:ln>
        </p:spPr>
        <p:txBody>
          <a:bodyPr spcFirstLastPara="1" wrap="square" lIns="0" tIns="0" rIns="0" bIns="0" anchor="ctr" anchorCtr="0">
            <a:noAutofit/>
          </a:bodyPr>
          <a:lstStyle/>
          <a:p>
            <a:pPr marL="0" marR="0" lvl="0" indent="0" algn="l" rtl="0">
              <a:lnSpc>
                <a:spcPct val="80000"/>
              </a:lnSpc>
              <a:spcBef>
                <a:spcPts val="0"/>
              </a:spcBef>
              <a:spcAft>
                <a:spcPts val="0"/>
              </a:spcAft>
              <a:buClr>
                <a:srgbClr val="B70031"/>
              </a:buClr>
              <a:buSzPts val="2000"/>
              <a:buFont typeface="Noto Sans Symbols"/>
              <a:buNone/>
            </a:pPr>
            <a:r>
              <a:rPr lang="ja-JP" sz="2400" b="0" i="0" u="none" strike="noStrike" cap="none" dirty="0">
                <a:solidFill>
                  <a:srgbClr val="000000"/>
                </a:solidFill>
                <a:sym typeface="Arial"/>
              </a:rPr>
              <a:t>あなたは</a:t>
            </a:r>
            <a:r>
              <a:rPr lang="ja-JP" altLang="en-US" sz="2400" dirty="0"/>
              <a:t>とあるシステム開発会社</a:t>
            </a:r>
            <a:r>
              <a:rPr lang="ja-JP" sz="2400" b="0" i="0" u="none" strike="noStrike" cap="none" dirty="0">
                <a:solidFill>
                  <a:srgbClr val="000000"/>
                </a:solidFill>
                <a:sym typeface="Arial"/>
              </a:rPr>
              <a:t>の</a:t>
            </a:r>
            <a:r>
              <a:rPr lang="ja-JP" altLang="en-US" sz="2400" dirty="0"/>
              <a:t>サービス部門の</a:t>
            </a:r>
            <a:r>
              <a:rPr lang="ja-JP" sz="2400" b="0" i="0" u="none" strike="noStrike" cap="none" dirty="0">
                <a:solidFill>
                  <a:srgbClr val="000000"/>
                </a:solidFill>
                <a:sym typeface="Arial"/>
              </a:rPr>
              <a:t>社員です。</a:t>
            </a:r>
            <a:endParaRPr sz="2400" b="0" i="0" u="none" strike="noStrike" cap="none" dirty="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r>
              <a:rPr lang="ja-JP" sz="2400" b="0" i="0" u="none" strike="noStrike" cap="none" dirty="0">
                <a:solidFill>
                  <a:srgbClr val="000000"/>
                </a:solidFill>
                <a:sym typeface="Arial"/>
              </a:rPr>
              <a:t>この度、</a:t>
            </a:r>
            <a:r>
              <a:rPr lang="en-US" altLang="ja-JP" sz="2400" dirty="0"/>
              <a:t>YouTube</a:t>
            </a:r>
            <a:r>
              <a:rPr lang="ja-JP" altLang="en-US" sz="2400" dirty="0"/>
              <a:t>等で活動している料理研究家</a:t>
            </a:r>
            <a:r>
              <a:rPr lang="ja-JP" sz="2400" b="0" i="0" u="none" strike="noStrike" cap="none" dirty="0">
                <a:solidFill>
                  <a:srgbClr val="000000"/>
                </a:solidFill>
                <a:sym typeface="Arial"/>
              </a:rPr>
              <a:t>の</a:t>
            </a:r>
            <a:r>
              <a:rPr lang="en-US" altLang="ja-JP" sz="2400" b="0" i="0" u="none" strike="noStrike" cap="none" dirty="0" err="1">
                <a:solidFill>
                  <a:srgbClr val="000000"/>
                </a:solidFill>
                <a:sym typeface="Arial"/>
              </a:rPr>
              <a:t>Cera</a:t>
            </a:r>
            <a:r>
              <a:rPr lang="en-US" altLang="ja-JP" sz="2400" dirty="0"/>
              <a:t>-</a:t>
            </a:r>
            <a:r>
              <a:rPr lang="ja-JP" altLang="en-US" sz="2400" dirty="0"/>
              <a:t>ｾﾗ</a:t>
            </a:r>
            <a:r>
              <a:rPr lang="en-US" altLang="ja-JP" sz="2400" dirty="0"/>
              <a:t>-</a:t>
            </a:r>
            <a:r>
              <a:rPr lang="ja-JP" altLang="en-US" sz="2400" dirty="0"/>
              <a:t>さんから、</a:t>
            </a:r>
            <a:endParaRPr lang="en-US" altLang="ja-JP" sz="2400" b="0" i="0" u="none" strike="noStrike" cap="none" dirty="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r>
              <a:rPr lang="ja-JP" altLang="en-US" sz="2400" b="1" dirty="0">
                <a:solidFill>
                  <a:schemeClr val="accent2"/>
                </a:solidFill>
              </a:rPr>
              <a:t>レシピ検索</a:t>
            </a:r>
            <a:r>
              <a:rPr lang="ja-JP" sz="2400" b="1" i="0" u="none" strike="noStrike" cap="none" dirty="0">
                <a:solidFill>
                  <a:schemeClr val="accent2"/>
                </a:solidFill>
                <a:sym typeface="Arial"/>
              </a:rPr>
              <a:t>システム</a:t>
            </a:r>
            <a:r>
              <a:rPr lang="ja-JP" sz="2400" b="0" i="0" u="none" strike="noStrike" cap="none" dirty="0">
                <a:solidFill>
                  <a:srgbClr val="000000"/>
                </a:solidFill>
                <a:sym typeface="Arial"/>
              </a:rPr>
              <a:t>を作って欲しいと要望がありました。</a:t>
            </a:r>
            <a:endParaRPr sz="2400" b="0" i="0" u="none" strike="noStrike" cap="none" dirty="0">
              <a:solidFill>
                <a:srgbClr val="000000"/>
              </a:solidFill>
              <a:sym typeface="Arial"/>
            </a:endParaRPr>
          </a:p>
          <a:p>
            <a:pPr marL="0" marR="0" lvl="0" indent="0" algn="l" rtl="0">
              <a:lnSpc>
                <a:spcPct val="80000"/>
              </a:lnSpc>
              <a:spcBef>
                <a:spcPts val="500"/>
              </a:spcBef>
              <a:spcAft>
                <a:spcPts val="0"/>
              </a:spcAft>
              <a:buClr>
                <a:srgbClr val="B70031"/>
              </a:buClr>
              <a:buSzPts val="2000"/>
              <a:buFont typeface="Noto Sans Symbols"/>
              <a:buNone/>
            </a:pPr>
            <a:endParaRPr sz="2400" b="0" i="0" u="none" strike="noStrike" cap="none" dirty="0">
              <a:solidFill>
                <a:srgbClr val="000000"/>
              </a:solidFill>
              <a:sym typeface="Arial"/>
            </a:endParaRPr>
          </a:p>
          <a:p>
            <a:pPr marL="0" marR="0" lvl="0" indent="0" rtl="0">
              <a:lnSpc>
                <a:spcPct val="80000"/>
              </a:lnSpc>
              <a:spcBef>
                <a:spcPts val="500"/>
              </a:spcBef>
              <a:spcAft>
                <a:spcPts val="0"/>
              </a:spcAft>
              <a:buClr>
                <a:srgbClr val="B70031"/>
              </a:buClr>
              <a:buSzPts val="2000"/>
              <a:buFont typeface="Noto Sans Symbols"/>
              <a:buNone/>
            </a:pPr>
            <a:r>
              <a:rPr lang="ja-JP" altLang="en-US" sz="2400" b="1" dirty="0">
                <a:solidFill>
                  <a:schemeClr val="accent2"/>
                </a:solidFill>
              </a:rPr>
              <a:t>画面設計</a:t>
            </a:r>
            <a:r>
              <a:rPr lang="ja-JP" sz="2400" b="1" i="0" u="none" strike="noStrike" cap="none" dirty="0">
                <a:solidFill>
                  <a:schemeClr val="accent2"/>
                </a:solidFill>
                <a:sym typeface="Arial"/>
              </a:rPr>
              <a:t>担当者</a:t>
            </a:r>
            <a:r>
              <a:rPr lang="ja-JP" sz="2400" b="0" i="0" u="none" strike="noStrike" cap="none" dirty="0">
                <a:solidFill>
                  <a:srgbClr val="000000"/>
                </a:solidFill>
                <a:sym typeface="Arial"/>
              </a:rPr>
              <a:t>に任命されたあなたは</a:t>
            </a:r>
            <a:r>
              <a:rPr lang="ja-JP" altLang="en-US" sz="2400" b="0" i="0" u="none" strike="noStrike" cap="none" dirty="0">
                <a:solidFill>
                  <a:srgbClr val="000000"/>
                </a:solidFill>
                <a:sym typeface="Arial"/>
              </a:rPr>
              <a:t>、あらかじめヒアリングした内容をもとに</a:t>
            </a:r>
            <a:r>
              <a:rPr lang="ja-JP" altLang="en-US" sz="2400" b="1" i="0" u="none" strike="noStrike" cap="none" dirty="0">
                <a:solidFill>
                  <a:schemeClr val="accent2"/>
                </a:solidFill>
                <a:sym typeface="Arial"/>
              </a:rPr>
              <a:t>画面レイアウトを作成</a:t>
            </a:r>
            <a:r>
              <a:rPr lang="ja-JP" altLang="en-US" sz="2400" b="0" i="0" u="none" strike="noStrike" cap="none" dirty="0">
                <a:solidFill>
                  <a:srgbClr val="000000"/>
                </a:solidFill>
                <a:sym typeface="Arial"/>
              </a:rPr>
              <a:t>して、</a:t>
            </a:r>
            <a:r>
              <a:rPr lang="en-US" altLang="ja-JP" sz="2400" b="0" i="0" u="none" strike="noStrike" cap="none" dirty="0" err="1">
                <a:solidFill>
                  <a:srgbClr val="000000"/>
                </a:solidFill>
                <a:sym typeface="Arial"/>
              </a:rPr>
              <a:t>Cera</a:t>
            </a:r>
            <a:r>
              <a:rPr lang="en-US" altLang="ja-JP" sz="2400" b="0" i="0" u="none" strike="noStrike" cap="none" dirty="0">
                <a:solidFill>
                  <a:srgbClr val="000000"/>
                </a:solidFill>
                <a:sym typeface="Arial"/>
              </a:rPr>
              <a:t>-</a:t>
            </a:r>
            <a:r>
              <a:rPr lang="ja-JP" altLang="en-US" sz="2400" b="0" i="0" u="none" strike="noStrike" cap="none" dirty="0">
                <a:solidFill>
                  <a:srgbClr val="000000"/>
                </a:solidFill>
                <a:sym typeface="Arial"/>
              </a:rPr>
              <a:t>ｾﾗ</a:t>
            </a:r>
            <a:r>
              <a:rPr lang="en-US" altLang="ja-JP" sz="2400" b="0" i="0" u="none" strike="noStrike" cap="none" dirty="0">
                <a:solidFill>
                  <a:srgbClr val="000000"/>
                </a:solidFill>
                <a:sym typeface="Arial"/>
              </a:rPr>
              <a:t>-</a:t>
            </a:r>
            <a:r>
              <a:rPr lang="ja-JP" altLang="en-US" sz="2400" b="0" i="0" u="none" strike="noStrike" cap="none" dirty="0" err="1">
                <a:solidFill>
                  <a:srgbClr val="000000"/>
                </a:solidFill>
                <a:sym typeface="Arial"/>
              </a:rPr>
              <a:t>さんに</a:t>
            </a:r>
            <a:r>
              <a:rPr lang="ja-JP" altLang="en-US" sz="2400" b="0" i="0" u="none" strike="noStrike" cap="none" dirty="0">
                <a:solidFill>
                  <a:srgbClr val="000000"/>
                </a:solidFill>
                <a:sym typeface="Arial"/>
              </a:rPr>
              <a:t>提案しようと思っています。</a:t>
            </a:r>
            <a:endParaRPr sz="2400" b="0" i="0" u="none" strike="noStrike" cap="none" dirty="0">
              <a:solidFill>
                <a:srgbClr val="000000"/>
              </a:solidFill>
              <a:sym typeface="Arial"/>
            </a:endParaRPr>
          </a:p>
        </p:txBody>
      </p:sp>
      <p:pic>
        <p:nvPicPr>
          <p:cNvPr id="1026" name="Picture 2" descr="料理動画のイラスト（男性）"/>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425" y="1158314"/>
            <a:ext cx="2021071" cy="18139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blogger.googleusercontent.com/img/b/R29vZ2xl/AVvXsEjt_4x_GepwPeGRjl22hiVdWyhOHxyrw7SxQDmruNJqMYS_SfSBxewJTVl2Sas0uNiH75iBtMJ36CV0pUTfLmyxmkbQS6lgzth_2qUh5thLtSduDwgkaeCn29kt1o5crEuZZCN7Lu9d7Is/s800/annai_monitor_apron_ma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7992" y="3246120"/>
            <a:ext cx="3444744" cy="3246672"/>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p:cNvSpPr txBox="1"/>
          <p:nvPr/>
        </p:nvSpPr>
        <p:spPr>
          <a:xfrm>
            <a:off x="6797041" y="4409343"/>
            <a:ext cx="1661160" cy="646331"/>
          </a:xfrm>
          <a:prstGeom prst="rect">
            <a:avLst/>
          </a:prstGeom>
          <a:noFill/>
        </p:spPr>
        <p:txBody>
          <a:bodyPr wrap="square" rtlCol="0">
            <a:spAutoFit/>
          </a:bodyPr>
          <a:lstStyle/>
          <a:p>
            <a:r>
              <a:rPr kumimoji="1" lang="ja-JP" altLang="en-US" sz="1800" b="1" dirty="0">
                <a:solidFill>
                  <a:srgbClr val="FF0000"/>
                </a:solidFill>
              </a:rPr>
              <a:t>レシピ検索</a:t>
            </a:r>
            <a:endParaRPr kumimoji="1" lang="en-US" altLang="ja-JP" sz="1800" b="1" dirty="0">
              <a:solidFill>
                <a:srgbClr val="FF0000"/>
              </a:solidFill>
            </a:endParaRPr>
          </a:p>
          <a:p>
            <a:r>
              <a:rPr kumimoji="1" lang="ja-JP" altLang="en-US" sz="1800" b="1" dirty="0">
                <a:solidFill>
                  <a:srgbClr val="FF0000"/>
                </a:solidFill>
              </a:rPr>
              <a:t>システム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3</a:t>
            </a:fld>
            <a:endParaRPr/>
          </a:p>
        </p:txBody>
      </p:sp>
      <p:sp>
        <p:nvSpPr>
          <p:cNvPr id="65" name="Google Shape;65;p3"/>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en-US" altLang="ja-JP" dirty="0" err="1"/>
              <a:t>Cera</a:t>
            </a:r>
            <a:r>
              <a:rPr lang="en-US" altLang="ja-JP" dirty="0"/>
              <a:t>-</a:t>
            </a:r>
            <a:r>
              <a:rPr lang="ja-JP" altLang="en-US" dirty="0"/>
              <a:t>ｾﾗ</a:t>
            </a:r>
            <a:r>
              <a:rPr lang="en-US" altLang="ja-JP" dirty="0"/>
              <a:t>-</a:t>
            </a:r>
            <a:r>
              <a:rPr lang="ja-JP" dirty="0" err="1"/>
              <a:t>さん</a:t>
            </a:r>
            <a:r>
              <a:rPr lang="ja-JP" dirty="0"/>
              <a:t>へのヒアリング</a:t>
            </a:r>
            <a:r>
              <a:rPr lang="ja-JP" altLang="en-US" dirty="0"/>
              <a:t>内容</a:t>
            </a:r>
            <a:endParaRPr dirty="0"/>
          </a:p>
        </p:txBody>
      </p:sp>
      <p:sp>
        <p:nvSpPr>
          <p:cNvPr id="66" name="Google Shape;66;p3"/>
          <p:cNvSpPr txBox="1"/>
          <p:nvPr/>
        </p:nvSpPr>
        <p:spPr>
          <a:xfrm>
            <a:off x="954001" y="443253"/>
            <a:ext cx="8744181" cy="4342123"/>
          </a:xfrm>
          <a:prstGeom prst="rect">
            <a:avLst/>
          </a:prstGeom>
          <a:noFill/>
          <a:ln>
            <a:noFill/>
          </a:ln>
        </p:spPr>
        <p:txBody>
          <a:bodyPr spcFirstLastPara="1" wrap="square" lIns="0" tIns="0" rIns="0" bIns="0" anchor="ctr" anchorCtr="0">
            <a:noAutofit/>
          </a:bodyPr>
          <a:lstStyle/>
          <a:p>
            <a:pPr marL="0" marR="0" lvl="0" indent="0" rtl="0">
              <a:lnSpc>
                <a:spcPct val="80000"/>
              </a:lnSpc>
              <a:spcBef>
                <a:spcPts val="0"/>
              </a:spcBef>
              <a:spcAft>
                <a:spcPts val="0"/>
              </a:spcAft>
              <a:buClr>
                <a:srgbClr val="B70031"/>
              </a:buClr>
              <a:buSzPts val="1800"/>
              <a:buFont typeface="Noto Sans Symbols"/>
              <a:buNone/>
            </a:pPr>
            <a:r>
              <a:rPr lang="en-US" altLang="ja-JP" sz="1800" dirty="0" err="1"/>
              <a:t>Cera</a:t>
            </a:r>
            <a:r>
              <a:rPr lang="en-US" altLang="ja-JP" sz="1800" dirty="0"/>
              <a:t>-</a:t>
            </a:r>
            <a:r>
              <a:rPr lang="ja-JP" altLang="en-US" sz="1800" dirty="0"/>
              <a:t>ｾﾗ</a:t>
            </a:r>
            <a:r>
              <a:rPr lang="en-US" altLang="ja-JP" sz="1800" dirty="0"/>
              <a:t>-</a:t>
            </a:r>
            <a:r>
              <a:rPr lang="ja-JP" sz="1800" b="0" i="0" u="none" strike="noStrike" cap="none" dirty="0" err="1">
                <a:solidFill>
                  <a:srgbClr val="000000"/>
                </a:solidFill>
                <a:latin typeface="Arial"/>
                <a:ea typeface="Arial"/>
                <a:cs typeface="Arial"/>
                <a:sym typeface="Arial"/>
              </a:rPr>
              <a:t>さんが</a:t>
            </a:r>
            <a:r>
              <a:rPr lang="ja-JP" sz="1800" b="0" i="0" u="none" strike="noStrike" cap="none" dirty="0">
                <a:solidFill>
                  <a:srgbClr val="000000"/>
                </a:solidFill>
                <a:latin typeface="Arial"/>
                <a:ea typeface="Arial"/>
                <a:cs typeface="Arial"/>
                <a:sym typeface="Arial"/>
              </a:rPr>
              <a:t>おっしゃるには</a:t>
            </a:r>
            <a:r>
              <a:rPr lang="en-US" altLang="ja-JP" sz="1800" dirty="0"/>
              <a:t>…</a:t>
            </a:r>
          </a:p>
          <a:p>
            <a:pPr marL="0" marR="0" lvl="0" indent="0" rtl="0">
              <a:lnSpc>
                <a:spcPct val="80000"/>
              </a:lnSpc>
              <a:spcBef>
                <a:spcPts val="0"/>
              </a:spcBef>
              <a:spcAft>
                <a:spcPts val="0"/>
              </a:spcAft>
              <a:buClr>
                <a:srgbClr val="B70031"/>
              </a:buClr>
              <a:buSzPts val="1800"/>
              <a:buFont typeface="Noto Sans Symbols"/>
              <a:buNone/>
            </a:pP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a:t>「パソコンのウェブサイトで見ることができるシステムを想像しています。</a:t>
            </a: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a:t>レシピの検索窓はもちろんほしいんですけど、ジャンル・調理時間で絞り込めるといいですね。あと、家にある食材が少ししかないのに、レシピ検索すると豪華な料理が出てきちゃうなと思ってたんですよ。</a:t>
            </a:r>
            <a:r>
              <a:rPr lang="ja-JP" altLang="en-US" sz="1800" dirty="0" err="1"/>
              <a:t>なので</a:t>
            </a:r>
            <a:r>
              <a:rPr lang="ja-JP" altLang="en-US" sz="1800" dirty="0"/>
              <a:t>食材数でも絞れればいいですね。」</a:t>
            </a:r>
            <a:endParaRPr lang="en-US" altLang="ja-JP" sz="1800" dirty="0"/>
          </a:p>
          <a:p>
            <a:pPr marL="0" marR="0" lvl="0" indent="0" rtl="0">
              <a:lnSpc>
                <a:spcPct val="80000"/>
              </a:lnSpc>
              <a:spcBef>
                <a:spcPts val="0"/>
              </a:spcBef>
              <a:spcAft>
                <a:spcPts val="0"/>
              </a:spcAft>
              <a:buClr>
                <a:srgbClr val="B70031"/>
              </a:buClr>
              <a:buSzPts val="1800"/>
              <a:buFont typeface="Noto Sans Symbols"/>
              <a:buNone/>
            </a:pP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a:t>「ネットショップみたいに、お気に入り登録したり口コミが投稿できるといいので、</a:t>
            </a: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a:t>機能としては会員登録とかマイページとかそういうのも欲しいです。」</a:t>
            </a:r>
            <a:endParaRPr lang="en-US" altLang="ja-JP" sz="1800" dirty="0"/>
          </a:p>
          <a:p>
            <a:pPr marL="0" marR="0" lvl="0" indent="0" rtl="0">
              <a:lnSpc>
                <a:spcPct val="80000"/>
              </a:lnSpc>
              <a:spcBef>
                <a:spcPts val="0"/>
              </a:spcBef>
              <a:spcAft>
                <a:spcPts val="0"/>
              </a:spcAft>
              <a:buClr>
                <a:srgbClr val="B70031"/>
              </a:buClr>
              <a:buSzPts val="1800"/>
              <a:buFont typeface="Noto Sans Symbols"/>
              <a:buNone/>
            </a:pPr>
            <a:endParaRPr lang="en-US" altLang="ja-JP" sz="1800" dirty="0"/>
          </a:p>
          <a:p>
            <a:pPr marL="0" marR="0" lvl="0" indent="0" rtl="0">
              <a:lnSpc>
                <a:spcPct val="80000"/>
              </a:lnSpc>
              <a:spcBef>
                <a:spcPts val="0"/>
              </a:spcBef>
              <a:spcAft>
                <a:spcPts val="0"/>
              </a:spcAft>
              <a:buClr>
                <a:srgbClr val="B70031"/>
              </a:buClr>
              <a:buSzPts val="1800"/>
              <a:buFont typeface="Noto Sans Symbols"/>
              <a:buNone/>
            </a:pPr>
            <a:r>
              <a:rPr lang="ja-JP" altLang="en-US" sz="1800" dirty="0"/>
              <a:t>「あと、ランキングとかおすすめのレシピがいつでも目につくような場所にあるといいかなあ。邪魔になることもあると思うので、隠したりまた表示させたり自由にできるといいですね。」</a:t>
            </a:r>
            <a:endParaRPr lang="en-US" altLang="ja-JP" sz="1800" dirty="0"/>
          </a:p>
        </p:txBody>
      </p:sp>
      <p:pic>
        <p:nvPicPr>
          <p:cNvPr id="2050" name="Picture 2" descr="パソコンを使う男性のイラスト"/>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001" y="4719071"/>
            <a:ext cx="1648229" cy="16565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食材を茹でている人のイラスト（男性・お玉）"/>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3477" y="4234397"/>
            <a:ext cx="1557713" cy="214118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野菜のイラスト「カゴに盛られた野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3211" y="4315185"/>
            <a:ext cx="1889789" cy="12321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割引シールの貼られたお肉のイラスト"/>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2707" y="4965657"/>
            <a:ext cx="1868055" cy="15271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3"/>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4</a:t>
            </a:fld>
            <a:endParaRPr/>
          </a:p>
        </p:txBody>
      </p:sp>
      <p:sp>
        <p:nvSpPr>
          <p:cNvPr id="65" name="Google Shape;65;p3"/>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ltLang="en-US" dirty="0"/>
              <a:t>画面表示内容</a:t>
            </a:r>
            <a:endParaRPr dirty="0"/>
          </a:p>
        </p:txBody>
      </p:sp>
      <p:sp>
        <p:nvSpPr>
          <p:cNvPr id="11" name="正方形/長方形 10"/>
          <p:cNvSpPr/>
          <p:nvPr/>
        </p:nvSpPr>
        <p:spPr>
          <a:xfrm>
            <a:off x="7752836" y="919404"/>
            <a:ext cx="1777244"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solidFill>
                  <a:sysClr val="windowText" lastClr="000000"/>
                </a:solidFill>
              </a:rPr>
              <a:t>ランキング</a:t>
            </a:r>
            <a:endParaRPr lang="en-US" altLang="ja-JP" sz="2000" b="1" dirty="0">
              <a:solidFill>
                <a:sysClr val="windowText" lastClr="000000"/>
              </a:solidFill>
            </a:endParaRPr>
          </a:p>
          <a:p>
            <a:pPr algn="ctr"/>
            <a:r>
              <a:rPr lang="ja-JP" altLang="en-US" sz="2000" b="1" dirty="0">
                <a:solidFill>
                  <a:sysClr val="windowText" lastClr="000000"/>
                </a:solidFill>
              </a:rPr>
              <a:t>表示欄</a:t>
            </a: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p:txBody>
      </p:sp>
      <p:sp>
        <p:nvSpPr>
          <p:cNvPr id="12" name="正方形/長方形 11"/>
          <p:cNvSpPr/>
          <p:nvPr/>
        </p:nvSpPr>
        <p:spPr>
          <a:xfrm>
            <a:off x="3115765" y="919404"/>
            <a:ext cx="2132607"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solidFill>
                  <a:sysClr val="windowText" lastClr="000000"/>
                </a:solidFill>
              </a:rPr>
              <a:t>検索条件欄</a:t>
            </a:r>
            <a:endParaRPr lang="en-US" altLang="ja-JP" sz="2000" b="1" dirty="0">
              <a:solidFill>
                <a:sysClr val="windowText" lastClr="000000"/>
              </a:solidFill>
            </a:endParaRPr>
          </a:p>
          <a:p>
            <a:pPr algn="ctr"/>
            <a:endParaRPr lang="en-US" altLang="ja-JP" dirty="0">
              <a:solidFill>
                <a:sysClr val="windowText" lastClr="000000"/>
              </a:solidFill>
            </a:endParaRPr>
          </a:p>
          <a:p>
            <a:endParaRPr lang="en-US" altLang="ja-JP" dirty="0">
              <a:solidFill>
                <a:sysClr val="windowText" lastClr="000000"/>
              </a:solidFill>
            </a:endParaRPr>
          </a:p>
          <a:p>
            <a:endParaRPr lang="en-US" altLang="ja-JP" dirty="0">
              <a:solidFill>
                <a:sysClr val="windowText" lastClr="000000"/>
              </a:solidFill>
            </a:endParaRPr>
          </a:p>
          <a:p>
            <a:endParaRPr lang="en-US" altLang="ja-JP" dirty="0">
              <a:solidFill>
                <a:sysClr val="windowText" lastClr="000000"/>
              </a:solidFill>
            </a:endParaRPr>
          </a:p>
          <a:p>
            <a:r>
              <a:rPr lang="ja-JP" altLang="en-US" dirty="0">
                <a:solidFill>
                  <a:sysClr val="windowText" lastClr="000000"/>
                </a:solidFill>
              </a:rPr>
              <a:t>　・フリーワード</a:t>
            </a:r>
            <a:endParaRPr lang="en-US" altLang="ja-JP" dirty="0">
              <a:solidFill>
                <a:sysClr val="windowText" lastClr="000000"/>
              </a:solidFill>
            </a:endParaRPr>
          </a:p>
          <a:p>
            <a:r>
              <a:rPr lang="ja-JP" altLang="en-US" dirty="0">
                <a:solidFill>
                  <a:sysClr val="windowText" lastClr="000000"/>
                </a:solidFill>
              </a:rPr>
              <a:t>　・ジャンル</a:t>
            </a:r>
            <a:endParaRPr lang="en-US" altLang="ja-JP" dirty="0">
              <a:solidFill>
                <a:sysClr val="windowText" lastClr="000000"/>
              </a:solidFill>
            </a:endParaRPr>
          </a:p>
          <a:p>
            <a:r>
              <a:rPr lang="ja-JP" altLang="en-US" dirty="0">
                <a:solidFill>
                  <a:sysClr val="windowText" lastClr="000000"/>
                </a:solidFill>
              </a:rPr>
              <a:t>　・調理時間</a:t>
            </a:r>
            <a:endParaRPr lang="en-US" altLang="ja-JP" dirty="0">
              <a:solidFill>
                <a:sysClr val="windowText" lastClr="000000"/>
              </a:solidFill>
            </a:endParaRPr>
          </a:p>
          <a:p>
            <a:r>
              <a:rPr lang="ja-JP" altLang="en-US" dirty="0">
                <a:solidFill>
                  <a:sysClr val="windowText" lastClr="000000"/>
                </a:solidFill>
              </a:rPr>
              <a:t>　・食材数</a:t>
            </a:r>
            <a:endParaRPr lang="en-US" altLang="ja-JP" dirty="0">
              <a:solidFill>
                <a:sysClr val="windowText" lastClr="000000"/>
              </a:solidFill>
            </a:endParaRPr>
          </a:p>
        </p:txBody>
      </p:sp>
      <p:sp>
        <p:nvSpPr>
          <p:cNvPr id="13" name="正方形/長方形 12"/>
          <p:cNvSpPr/>
          <p:nvPr/>
        </p:nvSpPr>
        <p:spPr>
          <a:xfrm>
            <a:off x="954001" y="919404"/>
            <a:ext cx="1917169"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solidFill>
                  <a:sysClr val="windowText" lastClr="000000"/>
                </a:solidFill>
              </a:rPr>
              <a:t>システム</a:t>
            </a:r>
            <a:endParaRPr lang="en-US" altLang="ja-JP" sz="2000" b="1" dirty="0">
              <a:solidFill>
                <a:sysClr val="windowText" lastClr="000000"/>
              </a:solidFill>
            </a:endParaRPr>
          </a:p>
          <a:p>
            <a:pPr algn="ctr"/>
            <a:r>
              <a:rPr lang="ja-JP" altLang="en-US" sz="2000" b="1" dirty="0">
                <a:solidFill>
                  <a:sysClr val="windowText" lastClr="000000"/>
                </a:solidFill>
              </a:rPr>
              <a:t>メニュー欄</a:t>
            </a:r>
            <a:endParaRPr lang="en-US" altLang="ja-JP" sz="2000" b="1" dirty="0">
              <a:solidFill>
                <a:sysClr val="windowText" lastClr="000000"/>
              </a:solidFill>
            </a:endParaRPr>
          </a:p>
          <a:p>
            <a:pPr algn="ctr"/>
            <a:endParaRPr lang="en-US" altLang="ja-JP" dirty="0">
              <a:solidFill>
                <a:sysClr val="windowText" lastClr="000000"/>
              </a:solidFill>
            </a:endParaRPr>
          </a:p>
          <a:p>
            <a:pPr algn="ctr"/>
            <a:endParaRPr lang="en-US" altLang="ja-JP" dirty="0">
              <a:solidFill>
                <a:sysClr val="windowText" lastClr="000000"/>
              </a:solidFill>
            </a:endParaRPr>
          </a:p>
          <a:p>
            <a:r>
              <a:rPr lang="ja-JP" altLang="en-US" dirty="0">
                <a:solidFill>
                  <a:sysClr val="windowText" lastClr="000000"/>
                </a:solidFill>
              </a:rPr>
              <a:t>　・システムタイトル</a:t>
            </a:r>
            <a:endParaRPr lang="en-US" altLang="ja-JP" dirty="0">
              <a:solidFill>
                <a:sysClr val="windowText" lastClr="000000"/>
              </a:solidFill>
            </a:endParaRPr>
          </a:p>
          <a:p>
            <a:r>
              <a:rPr lang="ja-JP" altLang="en-US" dirty="0">
                <a:solidFill>
                  <a:sysClr val="windowText" lastClr="000000"/>
                </a:solidFill>
              </a:rPr>
              <a:t>　（</a:t>
            </a:r>
            <a:r>
              <a:rPr lang="en-US" altLang="ja-JP" dirty="0" err="1">
                <a:solidFill>
                  <a:sysClr val="windowText" lastClr="000000"/>
                </a:solidFill>
              </a:rPr>
              <a:t>Cera’s</a:t>
            </a:r>
            <a:r>
              <a:rPr lang="en-US" altLang="ja-JP" dirty="0">
                <a:solidFill>
                  <a:sysClr val="windowText" lastClr="000000"/>
                </a:solidFill>
              </a:rPr>
              <a:t> Kitchen</a:t>
            </a:r>
          </a:p>
          <a:p>
            <a:r>
              <a:rPr lang="ja-JP" altLang="en-US" dirty="0">
                <a:solidFill>
                  <a:sysClr val="windowText" lastClr="000000"/>
                </a:solidFill>
              </a:rPr>
              <a:t>　　</a:t>
            </a:r>
            <a:r>
              <a:rPr lang="en-US" altLang="ja-JP" dirty="0">
                <a:solidFill>
                  <a:sysClr val="windowText" lastClr="000000"/>
                </a:solidFill>
              </a:rPr>
              <a:t>-</a:t>
            </a:r>
            <a:r>
              <a:rPr lang="ja-JP" altLang="en-US" dirty="0">
                <a:solidFill>
                  <a:sysClr val="windowText" lastClr="000000"/>
                </a:solidFill>
              </a:rPr>
              <a:t>セラズキッチン</a:t>
            </a:r>
            <a:r>
              <a:rPr lang="en-US" altLang="ja-JP" dirty="0">
                <a:solidFill>
                  <a:sysClr val="windowText" lastClr="000000"/>
                </a:solidFill>
              </a:rPr>
              <a:t>-</a:t>
            </a:r>
            <a:r>
              <a:rPr lang="ja-JP" altLang="en-US" dirty="0">
                <a:solidFill>
                  <a:sysClr val="windowText" lastClr="000000"/>
                </a:solidFill>
              </a:rPr>
              <a:t>）</a:t>
            </a:r>
            <a:endParaRPr lang="en-US" altLang="ja-JP" dirty="0">
              <a:solidFill>
                <a:sysClr val="windowText" lastClr="000000"/>
              </a:solidFill>
            </a:endParaRPr>
          </a:p>
          <a:p>
            <a:r>
              <a:rPr lang="ja-JP" altLang="en-US" dirty="0">
                <a:solidFill>
                  <a:sysClr val="windowText" lastClr="000000"/>
                </a:solidFill>
              </a:rPr>
              <a:t>　・ホーム</a:t>
            </a:r>
            <a:endParaRPr lang="en-US" altLang="ja-JP" dirty="0">
              <a:solidFill>
                <a:sysClr val="windowText" lastClr="000000"/>
              </a:solidFill>
            </a:endParaRPr>
          </a:p>
          <a:p>
            <a:r>
              <a:rPr lang="ja-JP" altLang="en-US" dirty="0">
                <a:solidFill>
                  <a:sysClr val="windowText" lastClr="000000"/>
                </a:solidFill>
              </a:rPr>
              <a:t>　・マイページ</a:t>
            </a:r>
            <a:endParaRPr lang="en-US" altLang="ja-JP" dirty="0">
              <a:solidFill>
                <a:sysClr val="windowText" lastClr="000000"/>
              </a:solidFill>
            </a:endParaRPr>
          </a:p>
          <a:p>
            <a:r>
              <a:rPr lang="ja-JP" altLang="en-US" dirty="0">
                <a:solidFill>
                  <a:sysClr val="windowText" lastClr="000000"/>
                </a:solidFill>
              </a:rPr>
              <a:t>　・ログアウト</a:t>
            </a:r>
            <a:endParaRPr lang="en-US" altLang="ja-JP" dirty="0">
              <a:solidFill>
                <a:sysClr val="windowText" lastClr="000000"/>
              </a:solidFill>
            </a:endParaRPr>
          </a:p>
          <a:p>
            <a:pPr algn="ctr"/>
            <a:endParaRPr lang="en-US" altLang="ja-JP" dirty="0">
              <a:solidFill>
                <a:sysClr val="windowText" lastClr="000000"/>
              </a:solidFill>
            </a:endParaRPr>
          </a:p>
        </p:txBody>
      </p:sp>
      <p:sp>
        <p:nvSpPr>
          <p:cNvPr id="14" name="正方形/長方形 13"/>
          <p:cNvSpPr/>
          <p:nvPr/>
        </p:nvSpPr>
        <p:spPr>
          <a:xfrm>
            <a:off x="5492968" y="919404"/>
            <a:ext cx="2015272" cy="5389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2000" b="1" dirty="0">
                <a:solidFill>
                  <a:sysClr val="windowText" lastClr="000000"/>
                </a:solidFill>
              </a:rPr>
              <a:t>検索結果表示欄</a:t>
            </a: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a:p>
            <a:pPr algn="ctr"/>
            <a:endParaRPr lang="en-US" altLang="ja-JP" sz="2000" b="1" dirty="0">
              <a:solidFill>
                <a:sysClr val="windowText" lastClr="000000"/>
              </a:solidFill>
            </a:endParaRPr>
          </a:p>
        </p:txBody>
      </p:sp>
    </p:spTree>
    <p:extLst>
      <p:ext uri="{BB962C8B-B14F-4D97-AF65-F5344CB8AC3E}">
        <p14:creationId xmlns:p14="http://schemas.microsoft.com/office/powerpoint/2010/main" val="62142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a:spLocks noGrp="1"/>
          </p:cNvSpPr>
          <p:nvPr>
            <p:ph type="sldNum" idx="12"/>
          </p:nvPr>
        </p:nvSpPr>
        <p:spPr>
          <a:xfrm>
            <a:off x="3838575" y="6492792"/>
            <a:ext cx="222885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000"/>
              <a:buNone/>
            </a:pPr>
            <a:fld id="{00000000-1234-1234-1234-123412341234}" type="slidenum">
              <a:rPr lang="en-US" altLang="ja-JP"/>
              <a:t>5</a:t>
            </a:fld>
            <a:endParaRPr/>
          </a:p>
        </p:txBody>
      </p:sp>
      <p:sp>
        <p:nvSpPr>
          <p:cNvPr id="139" name="Google Shape;139;p7"/>
          <p:cNvSpPr txBox="1">
            <a:spLocks noGrp="1"/>
          </p:cNvSpPr>
          <p:nvPr>
            <p:ph type="title"/>
          </p:nvPr>
        </p:nvSpPr>
        <p:spPr>
          <a:xfrm>
            <a:off x="954001" y="127450"/>
            <a:ext cx="7193712" cy="6316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Arial"/>
              <a:buNone/>
            </a:pPr>
            <a:r>
              <a:rPr lang="ja-JP" altLang="en-US" dirty="0"/>
              <a:t>画面レイアウト作成ゲーム概要</a:t>
            </a:r>
            <a:endParaRPr dirty="0"/>
          </a:p>
        </p:txBody>
      </p:sp>
      <p:sp>
        <p:nvSpPr>
          <p:cNvPr id="140" name="Google Shape;140;p7"/>
          <p:cNvSpPr txBox="1"/>
          <p:nvPr/>
        </p:nvSpPr>
        <p:spPr>
          <a:xfrm>
            <a:off x="953999" y="963406"/>
            <a:ext cx="8420700" cy="4372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ja-JP" sz="2400" b="1" i="0" u="none" strike="noStrike" cap="none" dirty="0">
                <a:solidFill>
                  <a:schemeClr val="dk1"/>
                </a:solidFill>
                <a:latin typeface="Arial"/>
                <a:ea typeface="Arial"/>
                <a:cs typeface="Arial"/>
                <a:sym typeface="Arial"/>
              </a:rPr>
              <a:t>問題：</a:t>
            </a:r>
            <a:r>
              <a:rPr lang="ja-JP" altLang="en-US" sz="2400" b="1" i="0" u="none" strike="noStrike" cap="none" dirty="0">
                <a:solidFill>
                  <a:schemeClr val="dk1"/>
                </a:solidFill>
                <a:latin typeface="Arial"/>
                <a:ea typeface="Arial"/>
                <a:cs typeface="Arial"/>
                <a:sym typeface="Arial"/>
              </a:rPr>
              <a:t>ユーザーが使いやすい画面レイアウト</a:t>
            </a:r>
            <a:r>
              <a:rPr lang="ja-JP" sz="2400" b="1" i="0" u="none" strike="noStrike" cap="none" dirty="0">
                <a:solidFill>
                  <a:schemeClr val="dk1"/>
                </a:solidFill>
                <a:latin typeface="Arial"/>
                <a:ea typeface="Arial"/>
                <a:cs typeface="Arial"/>
                <a:sym typeface="Arial"/>
              </a:rPr>
              <a:t>を考え</a:t>
            </a:r>
            <a:r>
              <a:rPr lang="ja-JP" altLang="en-US" sz="2400" b="1" i="0" u="none" strike="noStrike" cap="none" dirty="0">
                <a:solidFill>
                  <a:schemeClr val="dk1"/>
                </a:solidFill>
                <a:latin typeface="Arial"/>
                <a:ea typeface="Arial"/>
                <a:cs typeface="Arial"/>
                <a:sym typeface="Arial"/>
              </a:rPr>
              <a:t>よう！</a:t>
            </a:r>
            <a:endParaRPr sz="2400" b="1" i="0" u="none" strike="noStrike" cap="none" dirty="0">
              <a:solidFill>
                <a:schemeClr val="dk1"/>
              </a:solidFill>
              <a:latin typeface="Arial"/>
              <a:ea typeface="Arial"/>
              <a:cs typeface="Arial"/>
              <a:sym typeface="Arial"/>
            </a:endParaRPr>
          </a:p>
        </p:txBody>
      </p:sp>
      <p:sp>
        <p:nvSpPr>
          <p:cNvPr id="142" name="Google Shape;142;p7"/>
          <p:cNvSpPr txBox="1"/>
          <p:nvPr/>
        </p:nvSpPr>
        <p:spPr>
          <a:xfrm>
            <a:off x="953999" y="1708035"/>
            <a:ext cx="8420700" cy="1526029"/>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sz="2000" b="1" i="0" u="sng" strike="noStrike" cap="none" dirty="0">
                <a:solidFill>
                  <a:schemeClr val="dk1"/>
                </a:solidFill>
                <a:latin typeface="Arial"/>
                <a:ea typeface="Arial"/>
                <a:cs typeface="Arial"/>
                <a:sym typeface="Arial"/>
              </a:rPr>
              <a:t>ルール</a:t>
            </a:r>
            <a:endParaRPr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altLang="ja-JP" sz="1100"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・グループ内で相談しながら画面レイアウト（配置、ボタン、文字、色、画像）考え、</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en-US" altLang="ja-JP" b="1" dirty="0">
                <a:solidFill>
                  <a:schemeClr val="dk1"/>
                </a:solidFill>
              </a:rPr>
              <a:t>1</a:t>
            </a:r>
            <a:r>
              <a:rPr lang="ja-JP" altLang="en-US" b="1" dirty="0">
                <a:solidFill>
                  <a:schemeClr val="dk1"/>
                </a:solidFill>
              </a:rPr>
              <a:t>枚のスライドで表現してください。</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・答えはありませんので、自由にユーザーの使いやすい画面を作成しましょう。</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・最後にグループごとに代表者に発表していただきます。発表時間は</a:t>
            </a:r>
            <a:r>
              <a:rPr lang="en-US" altLang="ja-JP" b="1" dirty="0">
                <a:solidFill>
                  <a:schemeClr val="dk1"/>
                </a:solidFill>
              </a:rPr>
              <a:t>1</a:t>
            </a:r>
            <a:r>
              <a:rPr lang="ja-JP" altLang="en-US" b="1" dirty="0">
                <a:solidFill>
                  <a:schemeClr val="dk1"/>
                </a:solidFill>
              </a:rPr>
              <a:t>グループ</a:t>
            </a:r>
            <a:r>
              <a:rPr lang="en-US" altLang="ja-JP" b="1" dirty="0">
                <a:solidFill>
                  <a:schemeClr val="dk1"/>
                </a:solidFill>
              </a:rPr>
              <a:t>5</a:t>
            </a:r>
            <a:r>
              <a:rPr lang="ja-JP" altLang="en-US" b="1" dirty="0">
                <a:solidFill>
                  <a:schemeClr val="dk1"/>
                </a:solidFill>
              </a:rPr>
              <a:t>分です。</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lang="en-US" altLang="ja-JP" sz="1600" b="1" i="0" u="none" strike="noStrike" cap="none" dirty="0">
              <a:solidFill>
                <a:schemeClr val="dk1"/>
              </a:solidFill>
              <a:latin typeface="Arial"/>
              <a:ea typeface="Arial"/>
              <a:cs typeface="Arial"/>
              <a:sym typeface="Arial"/>
            </a:endParaRPr>
          </a:p>
        </p:txBody>
      </p:sp>
      <p:sp>
        <p:nvSpPr>
          <p:cNvPr id="143" name="Google Shape;143;p7"/>
          <p:cNvSpPr txBox="1"/>
          <p:nvPr/>
        </p:nvSpPr>
        <p:spPr>
          <a:xfrm>
            <a:off x="953999" y="4715690"/>
            <a:ext cx="8420700" cy="151303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sz="2000" b="1" i="0" u="sng" strike="noStrike" cap="none" dirty="0">
                <a:solidFill>
                  <a:schemeClr val="dk1"/>
                </a:solidFill>
                <a:latin typeface="Arial"/>
                <a:ea typeface="Arial"/>
                <a:cs typeface="Arial"/>
                <a:sym typeface="Arial"/>
              </a:rPr>
              <a:t>今回のワークで大事なこと</a:t>
            </a:r>
            <a:endParaRPr sz="18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b="1" i="0" u="none" strike="noStrike" cap="none" dirty="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・制限時間以内に成果物をまとめること</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i="0" u="none" strike="noStrike" cap="none" dirty="0">
                <a:solidFill>
                  <a:schemeClr val="dk1"/>
                </a:solidFill>
                <a:sym typeface="Arial"/>
              </a:rPr>
              <a:t>・ユーザーインターフェース</a:t>
            </a:r>
            <a:r>
              <a:rPr lang="en-US" altLang="ja-JP" b="1" i="0" u="none" strike="noStrike" cap="none" dirty="0">
                <a:solidFill>
                  <a:schemeClr val="dk1"/>
                </a:solidFill>
                <a:sym typeface="Arial"/>
              </a:rPr>
              <a:t>(</a:t>
            </a:r>
            <a:r>
              <a:rPr lang="ja-JP" altLang="en-US" b="1" i="0" u="none" strike="noStrike" cap="none" dirty="0">
                <a:solidFill>
                  <a:schemeClr val="dk1"/>
                </a:solidFill>
                <a:sym typeface="Arial"/>
              </a:rPr>
              <a:t>ユーザーの見やすさ、使いやすさ</a:t>
            </a:r>
            <a:r>
              <a:rPr lang="en-US" altLang="ja-JP" b="1" i="0" u="none" strike="noStrike" cap="none" dirty="0">
                <a:solidFill>
                  <a:schemeClr val="dk1"/>
                </a:solidFill>
                <a:sym typeface="Arial"/>
              </a:rPr>
              <a:t>)</a:t>
            </a:r>
            <a:r>
              <a:rPr lang="ja-JP" altLang="en-US" b="1" i="0" u="none" strike="noStrike" cap="none" dirty="0">
                <a:solidFill>
                  <a:schemeClr val="dk1"/>
                </a:solidFill>
                <a:sym typeface="Arial"/>
              </a:rPr>
              <a:t>を意識したデザインを</a:t>
            </a:r>
            <a:endParaRPr lang="en-US" altLang="ja-JP" b="1" i="0" u="none" strike="noStrike" cap="none" dirty="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ja-JP" altLang="en-US" b="1" i="0" u="none" strike="noStrike" cap="none" dirty="0">
                <a:solidFill>
                  <a:schemeClr val="dk1"/>
                </a:solidFill>
                <a:sym typeface="Arial"/>
              </a:rPr>
              <a:t>すること</a:t>
            </a:r>
            <a:endParaRPr lang="en-US" altLang="ja-JP" b="1" i="0" u="none" strike="noStrike" cap="none" dirty="0">
              <a:solidFill>
                <a:schemeClr val="dk1"/>
              </a:solidFil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　</a:t>
            </a:r>
            <a:r>
              <a:rPr lang="en-US" altLang="ja-JP" sz="1200" b="1" dirty="0">
                <a:solidFill>
                  <a:schemeClr val="dk1"/>
                </a:solidFill>
              </a:rPr>
              <a:t>※</a:t>
            </a:r>
            <a:r>
              <a:rPr lang="ja-JP" altLang="en-US" sz="1200" b="1" dirty="0">
                <a:solidFill>
                  <a:schemeClr val="dk1"/>
                </a:solidFill>
              </a:rPr>
              <a:t>お客様が思いつかないようなアイデアがあるとベター！</a:t>
            </a:r>
            <a:endParaRPr sz="1200" b="1" i="0" u="none" strike="noStrike" cap="none" dirty="0">
              <a:solidFill>
                <a:schemeClr val="dk1"/>
              </a:solidFill>
              <a:sym typeface="Arial"/>
            </a:endParaRPr>
          </a:p>
        </p:txBody>
      </p:sp>
      <p:sp>
        <p:nvSpPr>
          <p:cNvPr id="7" name="Google Shape;142;p7"/>
          <p:cNvSpPr txBox="1"/>
          <p:nvPr/>
        </p:nvSpPr>
        <p:spPr>
          <a:xfrm>
            <a:off x="953999" y="3403788"/>
            <a:ext cx="8420700" cy="1136468"/>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ja-JP" altLang="en-US" sz="2000" b="1" u="sng" dirty="0">
                <a:solidFill>
                  <a:schemeClr val="dk1"/>
                </a:solidFill>
              </a:rPr>
              <a:t>アドバイス</a:t>
            </a:r>
            <a:endParaRPr sz="1200" b="1" i="0" u="sng"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lang="en-US" sz="1000" b="1"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b="1" dirty="0">
                <a:solidFill>
                  <a:schemeClr val="dk1"/>
                </a:solidFill>
              </a:rPr>
              <a:t>・先に全員で配置と枠だけ決めて、それぞれの領域を作業分担するとよいでしょう。</a:t>
            </a:r>
            <a:endParaRPr lang="en-US" altLang="ja-JP" b="1"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r>
              <a:rPr lang="ja-JP" altLang="en-US" b="1" i="0" u="none" strike="noStrike" cap="none" dirty="0">
                <a:solidFill>
                  <a:schemeClr val="dk1"/>
                </a:solidFill>
                <a:sym typeface="Arial"/>
              </a:rPr>
              <a:t>・作成者は仕様の意図や工夫ポイントを発表者にたくさん伝えてください！</a:t>
            </a:r>
            <a:endParaRPr lang="en-US" altLang="ja-JP" b="1" i="0" u="none" strike="noStrike" cap="none" dirty="0">
              <a:solidFill>
                <a:schemeClr val="dk1"/>
              </a:solidFil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p:cNvSpPr txBox="1"/>
          <p:nvPr/>
        </p:nvSpPr>
        <p:spPr>
          <a:xfrm>
            <a:off x="3113024" y="3154680"/>
            <a:ext cx="4570482" cy="369332"/>
          </a:xfrm>
          <a:prstGeom prst="rect">
            <a:avLst/>
          </a:prstGeom>
          <a:noFill/>
        </p:spPr>
        <p:txBody>
          <a:bodyPr wrap="none" rtlCol="0">
            <a:spAutoFit/>
          </a:bodyPr>
          <a:lstStyle/>
          <a:p>
            <a:r>
              <a:rPr kumimoji="1" lang="ja-JP" altLang="en-US" dirty="0"/>
              <a:t>ここに画面レイアウトを作成してください</a:t>
            </a:r>
          </a:p>
        </p:txBody>
      </p:sp>
    </p:spTree>
    <p:extLst>
      <p:ext uri="{BB962C8B-B14F-4D97-AF65-F5344CB8AC3E}">
        <p14:creationId xmlns:p14="http://schemas.microsoft.com/office/powerpoint/2010/main" val="3288529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grpSp>
        <p:nvGrpSpPr>
          <p:cNvPr id="165" name="Google Shape;165;p9"/>
          <p:cNvGrpSpPr/>
          <p:nvPr/>
        </p:nvGrpSpPr>
        <p:grpSpPr>
          <a:xfrm>
            <a:off x="406400" y="5575634"/>
            <a:ext cx="7777672" cy="915950"/>
            <a:chOff x="406400" y="5575634"/>
            <a:chExt cx="7777672" cy="915950"/>
          </a:xfrm>
        </p:grpSpPr>
        <p:grpSp>
          <p:nvGrpSpPr>
            <p:cNvPr id="166" name="Google Shape;166;p9"/>
            <p:cNvGrpSpPr/>
            <p:nvPr/>
          </p:nvGrpSpPr>
          <p:grpSpPr>
            <a:xfrm>
              <a:off x="4902584" y="5650775"/>
              <a:ext cx="1572035" cy="367445"/>
              <a:chOff x="4871628" y="5701575"/>
              <a:chExt cx="1572035" cy="367445"/>
            </a:xfrm>
          </p:grpSpPr>
          <p:pic>
            <p:nvPicPr>
              <p:cNvPr id="167" name="Google Shape;167;p9"/>
              <p:cNvPicPr preferRelativeResize="0"/>
              <p:nvPr/>
            </p:nvPicPr>
            <p:blipFill rotWithShape="1">
              <a:blip r:embed="rId3">
                <a:alphaModFix/>
              </a:blip>
              <a:srcRect/>
              <a:stretch/>
            </p:blipFill>
            <p:spPr>
              <a:xfrm>
                <a:off x="4871628" y="5823428"/>
                <a:ext cx="263900" cy="203203"/>
              </a:xfrm>
              <a:prstGeom prst="rect">
                <a:avLst/>
              </a:prstGeom>
              <a:noFill/>
              <a:ln>
                <a:noFill/>
              </a:ln>
            </p:spPr>
          </p:pic>
          <p:sp>
            <p:nvSpPr>
              <p:cNvPr id="168" name="Google Shape;168;p9"/>
              <p:cNvSpPr txBox="1"/>
              <p:nvPr/>
            </p:nvSpPr>
            <p:spPr>
              <a:xfrm>
                <a:off x="5178624" y="5701575"/>
                <a:ext cx="702964" cy="17105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800"/>
                  <a:buFont typeface="Noto Sans Symbols"/>
                  <a:buNone/>
                </a:pPr>
                <a:r>
                  <a:rPr lang="ja-JP" sz="800" b="0" i="0" u="none" strike="noStrike" cap="none">
                    <a:solidFill>
                      <a:srgbClr val="0C0C0C"/>
                    </a:solidFill>
                    <a:latin typeface="Arial"/>
                    <a:ea typeface="Arial"/>
                    <a:cs typeface="Arial"/>
                    <a:sym typeface="Arial"/>
                  </a:rPr>
                  <a:t>＜フリーコール＞</a:t>
                </a:r>
                <a:endParaRPr sz="800" b="0" i="0" u="none" strike="noStrike" cap="none">
                  <a:solidFill>
                    <a:srgbClr val="0C0C0C"/>
                  </a:solidFill>
                  <a:latin typeface="Arial"/>
                  <a:ea typeface="Arial"/>
                  <a:cs typeface="Arial"/>
                  <a:sym typeface="Arial"/>
                </a:endParaRPr>
              </a:p>
            </p:txBody>
          </p:sp>
          <p:sp>
            <p:nvSpPr>
              <p:cNvPr id="169" name="Google Shape;169;p9"/>
              <p:cNvSpPr txBox="1"/>
              <p:nvPr/>
            </p:nvSpPr>
            <p:spPr>
              <a:xfrm>
                <a:off x="5178624" y="5843544"/>
                <a:ext cx="1265039" cy="2254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1200"/>
                  <a:buFont typeface="Noto Sans Symbols"/>
                  <a:buNone/>
                </a:pPr>
                <a:r>
                  <a:rPr lang="ja-JP" sz="1200" b="0" i="0" u="none" strike="noStrike" cap="none">
                    <a:solidFill>
                      <a:srgbClr val="0C0C0C"/>
                    </a:solidFill>
                    <a:latin typeface="Arial"/>
                    <a:ea typeface="Arial"/>
                    <a:cs typeface="Arial"/>
                    <a:sym typeface="Arial"/>
                  </a:rPr>
                  <a:t>0120-911-901</a:t>
                </a:r>
                <a:endParaRPr sz="1000" b="0" i="0" u="none" strike="noStrike" cap="none">
                  <a:solidFill>
                    <a:srgbClr val="0C0C0C"/>
                  </a:solidFill>
                  <a:latin typeface="Arial"/>
                  <a:ea typeface="Arial"/>
                  <a:cs typeface="Arial"/>
                  <a:sym typeface="Arial"/>
                </a:endParaRPr>
              </a:p>
            </p:txBody>
          </p:sp>
        </p:grpSp>
        <p:cxnSp>
          <p:nvCxnSpPr>
            <p:cNvPr id="170" name="Google Shape;170;p9"/>
            <p:cNvCxnSpPr/>
            <p:nvPr/>
          </p:nvCxnSpPr>
          <p:spPr>
            <a:xfrm>
              <a:off x="415925" y="6079015"/>
              <a:ext cx="7760017" cy="0"/>
            </a:xfrm>
            <a:prstGeom prst="straightConnector1">
              <a:avLst/>
            </a:prstGeom>
            <a:solidFill>
              <a:srgbClr val="FFFF99"/>
            </a:solidFill>
            <a:ln w="9525" cap="flat" cmpd="sng">
              <a:solidFill>
                <a:srgbClr val="FF2540"/>
              </a:solidFill>
              <a:prstDash val="solid"/>
              <a:round/>
              <a:headEnd type="none" w="sm" len="sm"/>
              <a:tailEnd type="none" w="sm" len="sm"/>
            </a:ln>
          </p:spPr>
        </p:cxnSp>
        <p:sp>
          <p:nvSpPr>
            <p:cNvPr id="171" name="Google Shape;171;p9"/>
            <p:cNvSpPr txBox="1"/>
            <p:nvPr/>
          </p:nvSpPr>
          <p:spPr>
            <a:xfrm>
              <a:off x="415925" y="6162882"/>
              <a:ext cx="7760017" cy="328702"/>
            </a:xfrm>
            <a:prstGeom prst="rect">
              <a:avLst/>
            </a:prstGeom>
            <a:noFill/>
            <a:ln>
              <a:noFill/>
            </a:ln>
          </p:spPr>
          <p:txBody>
            <a:bodyPr spcFirstLastPara="1" wrap="square" lIns="0" tIns="0" rIns="0" bIns="0" anchor="ctr" anchorCtr="0">
              <a:noAutofit/>
            </a:bodyPr>
            <a:lstStyle/>
            <a:p>
              <a:pPr marL="0" marR="0" lvl="0" indent="0" algn="just" rtl="0">
                <a:lnSpc>
                  <a:spcPct val="100000"/>
                </a:lnSpc>
                <a:spcBef>
                  <a:spcPts val="0"/>
                </a:spcBef>
                <a:spcAft>
                  <a:spcPts val="0"/>
                </a:spcAft>
                <a:buClr>
                  <a:srgbClr val="B70031"/>
                </a:buClr>
                <a:buSzPts val="700"/>
                <a:buFont typeface="Noto Sans Symbols"/>
                <a:buNone/>
              </a:pPr>
              <a:r>
                <a:rPr lang="ja-JP" sz="700" b="0" i="0" u="none" strike="noStrike" cap="none">
                  <a:solidFill>
                    <a:srgbClr val="0C0C0C"/>
                  </a:solidFill>
                  <a:latin typeface="Arial"/>
                  <a:ea typeface="Arial"/>
                  <a:cs typeface="Arial"/>
                  <a:sym typeface="Arial"/>
                </a:rPr>
                <a:t>●記載の製品・サービス名および会社名などは、それぞれ各社の商標または登録商標です。　●製品・サービスの仕様などは予告なく変更させていただく場合があります。　●KCCSは京セラコミュニケーションシステム株式会社の略称です。　●「アメーバ経営」に関する権利は京セラ株式会社が保有しています。●本資料の一部、あるいは全部について、京セラコミュニケーションシステムから文書による承諾を得ずに、いかなる方法においても無断で複写、複製することは禁じられています。</a:t>
              </a:r>
              <a:endParaRPr sz="700" b="0" i="0" u="none" strike="noStrike" cap="none">
                <a:solidFill>
                  <a:srgbClr val="0C0C0C"/>
                </a:solidFill>
                <a:latin typeface="Arial"/>
                <a:ea typeface="Arial"/>
                <a:cs typeface="Arial"/>
                <a:sym typeface="Arial"/>
              </a:endParaRPr>
            </a:p>
          </p:txBody>
        </p:sp>
        <p:grpSp>
          <p:nvGrpSpPr>
            <p:cNvPr id="172" name="Google Shape;172;p9"/>
            <p:cNvGrpSpPr/>
            <p:nvPr/>
          </p:nvGrpSpPr>
          <p:grpSpPr>
            <a:xfrm>
              <a:off x="6456479" y="5650775"/>
              <a:ext cx="1727593" cy="397377"/>
              <a:chOff x="6400123" y="5701575"/>
              <a:chExt cx="1727593" cy="397377"/>
            </a:xfrm>
          </p:grpSpPr>
          <p:sp>
            <p:nvSpPr>
              <p:cNvPr id="173" name="Google Shape;173;p9"/>
              <p:cNvSpPr txBox="1"/>
              <p:nvPr/>
            </p:nvSpPr>
            <p:spPr>
              <a:xfrm>
                <a:off x="6699767" y="5843544"/>
                <a:ext cx="1427949" cy="22547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1200"/>
                  <a:buFont typeface="Noto Sans Symbols"/>
                  <a:buNone/>
                </a:pPr>
                <a:r>
                  <a:rPr lang="ja-JP" sz="1200" b="0" i="0" u="none" strike="noStrike" cap="none">
                    <a:solidFill>
                      <a:srgbClr val="0C0C0C"/>
                    </a:solidFill>
                    <a:latin typeface="Arial"/>
                    <a:ea typeface="Arial"/>
                    <a:cs typeface="Arial"/>
                    <a:sym typeface="Arial"/>
                  </a:rPr>
                  <a:t>050-2018-1827</a:t>
                </a:r>
                <a:endParaRPr sz="1000" b="0" i="0" u="none" strike="noStrike" cap="none">
                  <a:solidFill>
                    <a:srgbClr val="0C0C0C"/>
                  </a:solidFill>
                  <a:latin typeface="Arial"/>
                  <a:ea typeface="Arial"/>
                  <a:cs typeface="Arial"/>
                  <a:sym typeface="Arial"/>
                </a:endParaRPr>
              </a:p>
            </p:txBody>
          </p:sp>
          <p:sp>
            <p:nvSpPr>
              <p:cNvPr id="174" name="Google Shape;174;p9"/>
              <p:cNvSpPr txBox="1"/>
              <p:nvPr/>
            </p:nvSpPr>
            <p:spPr>
              <a:xfrm>
                <a:off x="6699767" y="5701575"/>
                <a:ext cx="1161250" cy="17105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70031"/>
                  </a:buClr>
                  <a:buSzPts val="800"/>
                  <a:buFont typeface="Noto Sans Symbols"/>
                  <a:buNone/>
                </a:pPr>
                <a:r>
                  <a:rPr lang="ja-JP" sz="800" b="0" i="0" u="none" strike="noStrike" cap="none">
                    <a:solidFill>
                      <a:srgbClr val="0C0C0C"/>
                    </a:solidFill>
                    <a:latin typeface="Arial"/>
                    <a:ea typeface="Arial"/>
                    <a:cs typeface="Arial"/>
                    <a:sym typeface="Arial"/>
                  </a:rPr>
                  <a:t>＜携帯電話・IP電話など＞</a:t>
                </a:r>
                <a:endParaRPr sz="800" b="0" i="0" u="none" strike="noStrike" cap="none">
                  <a:solidFill>
                    <a:srgbClr val="0C0C0C"/>
                  </a:solidFill>
                  <a:latin typeface="Arial"/>
                  <a:ea typeface="Arial"/>
                  <a:cs typeface="Arial"/>
                  <a:sym typeface="Arial"/>
                </a:endParaRPr>
              </a:p>
            </p:txBody>
          </p:sp>
          <p:pic>
            <p:nvPicPr>
              <p:cNvPr id="175" name="Google Shape;175;p9"/>
              <p:cNvPicPr preferRelativeResize="0"/>
              <p:nvPr/>
            </p:nvPicPr>
            <p:blipFill rotWithShape="1">
              <a:blip r:embed="rId4">
                <a:alphaModFix/>
              </a:blip>
              <a:srcRect/>
              <a:stretch/>
            </p:blipFill>
            <p:spPr>
              <a:xfrm>
                <a:off x="6400123" y="5732279"/>
                <a:ext cx="366673" cy="366673"/>
              </a:xfrm>
              <a:prstGeom prst="rect">
                <a:avLst/>
              </a:prstGeom>
              <a:noFill/>
              <a:ln>
                <a:noFill/>
              </a:ln>
            </p:spPr>
          </p:pic>
        </p:grpSp>
        <p:grpSp>
          <p:nvGrpSpPr>
            <p:cNvPr id="176" name="Google Shape;176;p9"/>
            <p:cNvGrpSpPr/>
            <p:nvPr/>
          </p:nvGrpSpPr>
          <p:grpSpPr>
            <a:xfrm>
              <a:off x="406400" y="5575634"/>
              <a:ext cx="4370365" cy="452438"/>
              <a:chOff x="406400" y="5575634"/>
              <a:chExt cx="4370365" cy="452438"/>
            </a:xfrm>
          </p:grpSpPr>
          <p:sp>
            <p:nvSpPr>
              <p:cNvPr id="177" name="Google Shape;177;p9"/>
              <p:cNvSpPr txBox="1"/>
              <p:nvPr/>
            </p:nvSpPr>
            <p:spPr>
              <a:xfrm>
                <a:off x="917528" y="5760112"/>
                <a:ext cx="3859237" cy="23641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ja-JP" sz="1600" b="1" i="0" u="none" strike="noStrike" cap="none">
                    <a:solidFill>
                      <a:srgbClr val="0C0C0C"/>
                    </a:solidFill>
                    <a:latin typeface="Arial"/>
                    <a:ea typeface="Arial"/>
                    <a:cs typeface="Arial"/>
                    <a:sym typeface="Arial"/>
                  </a:rPr>
                  <a:t>https://www.kccs.co.jp/contact/</a:t>
                </a:r>
                <a:endParaRPr sz="1400" b="0" i="0" u="none" strike="noStrike" cap="none">
                  <a:solidFill>
                    <a:srgbClr val="000000"/>
                  </a:solidFill>
                  <a:latin typeface="Arial"/>
                  <a:ea typeface="Arial"/>
                  <a:cs typeface="Arial"/>
                  <a:sym typeface="Arial"/>
                </a:endParaRPr>
              </a:p>
            </p:txBody>
          </p:sp>
          <p:pic>
            <p:nvPicPr>
              <p:cNvPr id="178" name="Google Shape;178;p9"/>
              <p:cNvPicPr preferRelativeResize="0"/>
              <p:nvPr/>
            </p:nvPicPr>
            <p:blipFill rotWithShape="1">
              <a:blip r:embed="rId5">
                <a:alphaModFix/>
              </a:blip>
              <a:srcRect/>
              <a:stretch/>
            </p:blipFill>
            <p:spPr>
              <a:xfrm>
                <a:off x="406400" y="5575634"/>
                <a:ext cx="452438" cy="452438"/>
              </a:xfrm>
              <a:prstGeom prst="rect">
                <a:avLst/>
              </a:prstGeom>
              <a:noFill/>
              <a:ln>
                <a:noFill/>
              </a:ln>
            </p:spPr>
          </p:pic>
          <p:sp>
            <p:nvSpPr>
              <p:cNvPr id="179" name="Google Shape;179;p9"/>
              <p:cNvSpPr txBox="1"/>
              <p:nvPr/>
            </p:nvSpPr>
            <p:spPr>
              <a:xfrm>
                <a:off x="917527" y="5586577"/>
                <a:ext cx="1223770" cy="13335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B70031"/>
                  </a:buClr>
                  <a:buSzPts val="1050"/>
                  <a:buFont typeface="Noto Sans Symbols"/>
                  <a:buNone/>
                </a:pPr>
                <a:r>
                  <a:rPr lang="ja-JP" sz="1050" b="0" i="0" u="none" strike="noStrike" cap="none">
                    <a:solidFill>
                      <a:srgbClr val="0C0C0C"/>
                    </a:solidFill>
                    <a:latin typeface="Arial"/>
                    <a:ea typeface="Arial"/>
                    <a:cs typeface="Arial"/>
                    <a:sym typeface="Arial"/>
                  </a:rPr>
                  <a:t>お問い合わせ</a:t>
                </a:r>
                <a:endParaRPr sz="1050" b="0" i="0" u="none" strike="noStrike" cap="none">
                  <a:solidFill>
                    <a:srgbClr val="0C0C0C"/>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TotalTime>
  <Words>1071</Words>
  <Application>Microsoft Office PowerPoint</Application>
  <PresentationFormat>A4 210 x 297 mm</PresentationFormat>
  <Paragraphs>113</Paragraphs>
  <Slides>7</Slides>
  <Notes>7</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7</vt:i4>
      </vt:variant>
    </vt:vector>
  </HeadingPairs>
  <TitlesOfParts>
    <vt:vector size="11" baseType="lpstr">
      <vt:lpstr>Noto Sans Symbols</vt:lpstr>
      <vt:lpstr>Arial</vt:lpstr>
      <vt:lpstr>Calibri</vt:lpstr>
      <vt:lpstr>Office テーマ</vt:lpstr>
      <vt:lpstr>PowerPoint プレゼンテーション</vt:lpstr>
      <vt:lpstr>ストーリー</vt:lpstr>
      <vt:lpstr>Cera-ｾﾗ-さんへのヒアリング内容</vt:lpstr>
      <vt:lpstr>画面表示内容</vt:lpstr>
      <vt:lpstr>画面レイアウト作成ゲーム概要</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吉永　瑞季</dc:creator>
  <cp:lastModifiedBy>かなた 大迫</cp:lastModifiedBy>
  <cp:revision>23</cp:revision>
  <dcterms:created xsi:type="dcterms:W3CDTF">2019-11-07T03:46:42Z</dcterms:created>
  <dcterms:modified xsi:type="dcterms:W3CDTF">2024-11-22T00:10:21Z</dcterms:modified>
</cp:coreProperties>
</file>
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4"/>
  </p:notesMasterIdLst>
  <p:sldIdLst>
    <p:sldId id="436" r:id="rId2"/>
    <p:sldId id="43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田嶋　望" initials="田嶋　望" lastIdx="1" clrIdx="0">
    <p:extLst>
      <p:ext uri="{19B8F6BF-5375-455C-9EA6-DF929625EA0E}">
        <p15:presenceInfo xmlns:p15="http://schemas.microsoft.com/office/powerpoint/2012/main" userId="田嶋　望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203864"/>
    <a:srgbClr val="99B3C7"/>
    <a:srgbClr val="162746"/>
    <a:srgbClr val="D42A2A"/>
    <a:srgbClr val="FF00FF"/>
    <a:srgbClr val="1C1A72"/>
    <a:srgbClr val="FF0066"/>
    <a:srgbClr val="FF66CC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41" autoAdjust="0"/>
    <p:restoredTop sz="94333" autoAdjust="0"/>
  </p:normalViewPr>
  <p:slideViewPr>
    <p:cSldViewPr snapToGrid="0">
      <p:cViewPr varScale="1">
        <p:scale>
          <a:sx n="72" d="100"/>
          <a:sy n="72" d="100"/>
        </p:scale>
        <p:origin x="1032" y="3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CB810-CD11-4A87-A5B1-BFEF8F3B0783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8EA8D-9464-4FF2-A1E6-9863F098FF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0624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ノート プレースホルダー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dirty="0">
              <a:latin typeface="Arial" panose="020B0604020202020204" pitchFamily="34" charset="0"/>
            </a:endParaRPr>
          </a:p>
        </p:txBody>
      </p:sp>
      <p:sp>
        <p:nvSpPr>
          <p:cNvPr id="36868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16798" indent="-275692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02766" indent="-220553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43873" indent="-220553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1984980" indent="-220553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26086" indent="-220553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867193" indent="-220553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08299" indent="-220553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749406" indent="-220553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fld id="{27753620-B7D6-4C57-85CC-5DA16CB632CA}" type="slidenum">
              <a:rPr lang="ja-JP" altLang="en-US" sz="1200">
                <a:solidFill>
                  <a:srgbClr val="000000"/>
                </a:solidFill>
                <a:ea typeface="HGP創英角ｺﾞｼｯｸUB" panose="020B0900000000000000" pitchFamily="50" charset="-128"/>
              </a:rPr>
              <a:pPr/>
              <a:t>0</a:t>
            </a:fld>
            <a:endParaRPr lang="ja-JP" altLang="en-US" sz="1200">
              <a:solidFill>
                <a:srgbClr val="000000"/>
              </a:solidFill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24779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ノート プレースホルダー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ja-JP" altLang="en-US" dirty="0">
                <a:latin typeface="Arial" panose="020B0604020202020204" pitchFamily="34" charset="0"/>
              </a:rPr>
              <a:t>アイスブレイク</a:t>
            </a:r>
            <a:endParaRPr lang="en-US" altLang="ja-JP" dirty="0">
              <a:latin typeface="Arial" panose="020B0604020202020204" pitchFamily="34" charset="0"/>
            </a:endParaRPr>
          </a:p>
          <a:p>
            <a:endParaRPr lang="en-US" altLang="ja-JP" dirty="0">
              <a:latin typeface="Arial" panose="020B0604020202020204" pitchFamily="34" charset="0"/>
            </a:endParaRPr>
          </a:p>
          <a:p>
            <a:r>
              <a:rPr lang="en-US" altLang="ja-JP" dirty="0">
                <a:latin typeface="Arial" panose="020B0604020202020204" pitchFamily="34" charset="0"/>
              </a:rPr>
              <a:t>※</a:t>
            </a:r>
            <a:r>
              <a:rPr lang="ja-JP" altLang="en-US" dirty="0">
                <a:latin typeface="Arial" panose="020B0604020202020204" pitchFamily="34" charset="0"/>
              </a:rPr>
              <a:t>事業部によって異なるため変更してください</a:t>
            </a:r>
            <a:r>
              <a:rPr lang="en-US" altLang="ja-JP" dirty="0">
                <a:latin typeface="Arial" panose="020B0604020202020204" pitchFamily="34" charset="0"/>
              </a:rPr>
              <a:t>※</a:t>
            </a:r>
          </a:p>
          <a:p>
            <a:endParaRPr lang="en-US" altLang="ja-JP" dirty="0">
              <a:latin typeface="Arial" panose="020B0604020202020204" pitchFamily="34" charset="0"/>
            </a:endParaRPr>
          </a:p>
          <a:p>
            <a:endParaRPr lang="ja-JP" altLang="en-US" dirty="0">
              <a:latin typeface="Arial" panose="020B0604020202020204" pitchFamily="34" charset="0"/>
            </a:endParaRPr>
          </a:p>
        </p:txBody>
      </p:sp>
      <p:sp>
        <p:nvSpPr>
          <p:cNvPr id="36868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16798" indent="-275692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02766" indent="-220553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43873" indent="-220553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1984980" indent="-220553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26086" indent="-220553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867193" indent="-220553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08299" indent="-220553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749406" indent="-220553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fld id="{27753620-B7D6-4C57-85CC-5DA16CB632CA}" type="slidenum">
              <a:rPr lang="ja-JP" altLang="en-US" sz="1200">
                <a:solidFill>
                  <a:srgbClr val="000000"/>
                </a:solidFill>
                <a:ea typeface="HGP創英角ｺﾞｼｯｸUB" panose="020B0900000000000000" pitchFamily="50" charset="-128"/>
              </a:rPr>
              <a:pPr/>
              <a:t>1</a:t>
            </a:fld>
            <a:endParaRPr lang="ja-JP" altLang="en-US" sz="1200">
              <a:solidFill>
                <a:srgbClr val="000000"/>
              </a:solidFill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9255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3D45-3B33-4238-BEF9-D4A2C93E35EF}" type="datetime1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81A2-6F6E-4F21-B5B0-493C08008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543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D3AC-2AC4-4DEB-AADD-481DDD8F279A}" type="datetime1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81A2-6F6E-4F21-B5B0-493C08008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7605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4781-9CDB-4C92-95D4-A5637BAE758A}" type="datetime1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81A2-6F6E-4F21-B5B0-493C08008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457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D64D0-6AAB-478C-BA62-35BCE86AE240}" type="datetime1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81A2-6F6E-4F21-B5B0-493C08008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8619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0BA60-BD91-4A48-92A9-FF15E7E295D4}" type="datetime1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81A2-6F6E-4F21-B5B0-493C08008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9432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9FEBF-FEC9-4D83-8D40-A4CDCDA83B5A}" type="datetime1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81A2-6F6E-4F21-B5B0-493C08008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7202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4C32-D720-4282-9049-C717E558BC97}" type="datetime1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81A2-6F6E-4F21-B5B0-493C08008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89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D7AA3-457C-44B0-8E09-40289E9933DC}" type="datetime1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81A2-6F6E-4F21-B5B0-493C08008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5270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AAC6-1301-4B7A-B14C-6AE7323537EB}" type="datetime1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81A2-6F6E-4F21-B5B0-493C08008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3205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E9901-25E3-46FA-9344-538159636548}" type="datetime1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81A2-6F6E-4F21-B5B0-493C08008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191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29C8C-1CF2-484A-A5D9-97BDC0AD8DD7}" type="datetime1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81A2-6F6E-4F21-B5B0-493C08008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8347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小見出し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ChangeArrowheads="1"/>
          </p:cNvSpPr>
          <p:nvPr userDrawn="1"/>
        </p:nvSpPr>
        <p:spPr bwMode="auto">
          <a:xfrm>
            <a:off x="7729415" y="6688139"/>
            <a:ext cx="4050324" cy="134937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>
            <a:spAutoFit/>
          </a:bodyPr>
          <a:lstStyle>
            <a:lvl1pPr>
              <a:defRPr kumimoji="1" sz="900">
                <a:solidFill>
                  <a:schemeClr val="tx1"/>
                </a:solidFill>
                <a:latin typeface="Arial" charset="0"/>
                <a:ea typeface="HGP創英角ｺﾞｼｯｸUB" charset="-128"/>
              </a:defRPr>
            </a:lvl1pPr>
            <a:lvl2pPr marL="742950" indent="-285750">
              <a:defRPr kumimoji="1" sz="900">
                <a:solidFill>
                  <a:schemeClr val="tx1"/>
                </a:solidFill>
                <a:latin typeface="Arial" charset="0"/>
                <a:ea typeface="HGP創英角ｺﾞｼｯｸUB" charset="-128"/>
              </a:defRPr>
            </a:lvl2pPr>
            <a:lvl3pPr marL="1143000" indent="-228600">
              <a:defRPr kumimoji="1" sz="900">
                <a:solidFill>
                  <a:schemeClr val="tx1"/>
                </a:solidFill>
                <a:latin typeface="Arial" charset="0"/>
                <a:ea typeface="HGP創英角ｺﾞｼｯｸUB" charset="-128"/>
              </a:defRPr>
            </a:lvl3pPr>
            <a:lvl4pPr marL="1600200" indent="-228600">
              <a:defRPr kumimoji="1" sz="900">
                <a:solidFill>
                  <a:schemeClr val="tx1"/>
                </a:solidFill>
                <a:latin typeface="Arial" charset="0"/>
                <a:ea typeface="HGP創英角ｺﾞｼｯｸUB" charset="-128"/>
              </a:defRPr>
            </a:lvl4pPr>
            <a:lvl5pPr marL="2057400" indent="-228600">
              <a:defRPr kumimoji="1" sz="900">
                <a:solidFill>
                  <a:schemeClr val="tx1"/>
                </a:solidFill>
                <a:latin typeface="Arial" charset="0"/>
                <a:ea typeface="HGP創英角ｺﾞｼｯｸUB" charset="-128"/>
              </a:defRPr>
            </a:lvl5pPr>
            <a:lvl6pPr marL="2514600" indent="-228600" algn="ctr" fontAlgn="base"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Clr>
                <a:srgbClr val="C09B00"/>
              </a:buClr>
              <a:buFont typeface="Arial" charset="0"/>
              <a:defRPr kumimoji="1" sz="900">
                <a:solidFill>
                  <a:schemeClr val="tx1"/>
                </a:solidFill>
                <a:latin typeface="Arial" charset="0"/>
                <a:ea typeface="HGP創英角ｺﾞｼｯｸUB" charset="-128"/>
              </a:defRPr>
            </a:lvl6pPr>
            <a:lvl7pPr marL="2971800" indent="-228600" algn="ctr" fontAlgn="base"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Clr>
                <a:srgbClr val="C09B00"/>
              </a:buClr>
              <a:buFont typeface="Arial" charset="0"/>
              <a:defRPr kumimoji="1" sz="900">
                <a:solidFill>
                  <a:schemeClr val="tx1"/>
                </a:solidFill>
                <a:latin typeface="Arial" charset="0"/>
                <a:ea typeface="HGP創英角ｺﾞｼｯｸUB" charset="-128"/>
              </a:defRPr>
            </a:lvl7pPr>
            <a:lvl8pPr marL="3429000" indent="-228600" algn="ctr" fontAlgn="base"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Clr>
                <a:srgbClr val="C09B00"/>
              </a:buClr>
              <a:buFont typeface="Arial" charset="0"/>
              <a:defRPr kumimoji="1" sz="900">
                <a:solidFill>
                  <a:schemeClr val="tx1"/>
                </a:solidFill>
                <a:latin typeface="Arial" charset="0"/>
                <a:ea typeface="HGP創英角ｺﾞｼｯｸUB" charset="-128"/>
              </a:defRPr>
            </a:lvl8pPr>
            <a:lvl9pPr marL="3886200" indent="-228600" algn="ctr" fontAlgn="base"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Clr>
                <a:srgbClr val="C09B00"/>
              </a:buClr>
              <a:buFont typeface="Arial" charset="0"/>
              <a:defRPr kumimoji="1" sz="900">
                <a:solidFill>
                  <a:schemeClr val="tx1"/>
                </a:solidFill>
                <a:latin typeface="Arial" charset="0"/>
                <a:ea typeface="HGP創英角ｺﾞｼｯｸUB" charset="-128"/>
              </a:defRPr>
            </a:lvl9pPr>
          </a:lstStyle>
          <a:p>
            <a:pPr algn="r" eaLnBrk="1" hangingPunct="1">
              <a:lnSpc>
                <a:spcPct val="110000"/>
              </a:lnSpc>
              <a:spcBef>
                <a:spcPct val="100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en-US" altLang="ja-JP" sz="800" dirty="0">
                <a:solidFill>
                  <a:prstClr val="black"/>
                </a:solidFill>
                <a:latin typeface="Meiryo UI" charset="-128"/>
                <a:ea typeface="Meiryo UI" charset="-128"/>
              </a:rPr>
              <a:t>© KYOCERA Communication Systems Co., Ltd.</a:t>
            </a:r>
            <a:endParaRPr lang="ja-JP" altLang="en-US" sz="800" dirty="0">
              <a:solidFill>
                <a:prstClr val="black"/>
              </a:solidFill>
              <a:latin typeface="Meiryo UI" charset="-128"/>
              <a:ea typeface="Meiryo UI" charset="-128"/>
            </a:endParaRPr>
          </a:p>
        </p:txBody>
      </p:sp>
      <p:pic>
        <p:nvPicPr>
          <p:cNvPr id="3" name="図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594" y="12879"/>
            <a:ext cx="1945981" cy="809568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 userDrawn="1"/>
        </p:nvSpPr>
        <p:spPr>
          <a:xfrm>
            <a:off x="5175161" y="6579694"/>
            <a:ext cx="1841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6A6EC7D-26E7-4B1B-958D-8A25369AEE21}" type="slidenum">
              <a:rPr kumimoji="1" lang="ja-JP" altLang="en-US" sz="1400" b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‹#›</a:t>
            </a:fld>
            <a:endParaRPr kumimoji="1" lang="ja-JP" altLang="en-US" sz="1400" b="0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7612429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8D489-C5CE-406F-AA8E-3C845013EEFF}" type="datetime1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9F81A2-6F6E-4F21-B5B0-493C08008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0074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7"/>
          <p:cNvSpPr txBox="1">
            <a:spLocks noChangeArrowheads="1"/>
          </p:cNvSpPr>
          <p:nvPr/>
        </p:nvSpPr>
        <p:spPr bwMode="auto">
          <a:xfrm>
            <a:off x="290805" y="226182"/>
            <a:ext cx="2825257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質問リスト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0747" y="3805246"/>
            <a:ext cx="2427279" cy="2472395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-3369735" y="913909"/>
            <a:ext cx="3127687" cy="28913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1600" dirty="0"/>
              <a:t>＜事業部用＞</a:t>
            </a:r>
            <a:endParaRPr lang="en-US" altLang="ja-JP" sz="1600" dirty="0"/>
          </a:p>
          <a:p>
            <a:pPr>
              <a:defRPr/>
            </a:pPr>
            <a:endParaRPr lang="en-US" altLang="ja-JP" sz="1600" dirty="0"/>
          </a:p>
          <a:p>
            <a:pPr>
              <a:defRPr/>
            </a:pPr>
            <a:r>
              <a:rPr lang="ja-JP" altLang="en-US" sz="1600" dirty="0"/>
              <a:t>自由に質問を変更いただいて</a:t>
            </a:r>
            <a:r>
              <a:rPr lang="en-US" altLang="ja-JP" sz="1600" dirty="0"/>
              <a:t>OK</a:t>
            </a:r>
            <a:r>
              <a:rPr lang="ja-JP" altLang="en-US" sz="1600" dirty="0" err="1"/>
              <a:t>です</a:t>
            </a:r>
            <a:endParaRPr lang="en-US" altLang="ja-JP" sz="1600" dirty="0"/>
          </a:p>
          <a:p>
            <a:pPr>
              <a:defRPr/>
            </a:pPr>
            <a:endParaRPr lang="en-US" altLang="ja-JP" sz="1600" dirty="0"/>
          </a:p>
          <a:p>
            <a:pPr>
              <a:defRPr/>
            </a:pPr>
            <a:r>
              <a:rPr lang="ja-JP" altLang="en-US" sz="1600" dirty="0"/>
              <a:t>何を話すかざっくりとで</a:t>
            </a:r>
            <a:endParaRPr lang="en-US" altLang="ja-JP" sz="1600" dirty="0"/>
          </a:p>
          <a:p>
            <a:pPr>
              <a:defRPr/>
            </a:pPr>
            <a:r>
              <a:rPr lang="ja-JP" altLang="en-US" sz="1600" dirty="0"/>
              <a:t>良いので考えておいてください。</a:t>
            </a:r>
            <a:endParaRPr lang="en-US" altLang="ja-JP" sz="1600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B19B6D5D-743F-1F90-E7AA-8E429EE35FA8}"/>
              </a:ext>
            </a:extLst>
          </p:cNvPr>
          <p:cNvSpPr txBox="1">
            <a:spLocks/>
          </p:cNvSpPr>
          <p:nvPr/>
        </p:nvSpPr>
        <p:spPr bwMode="auto">
          <a:xfrm>
            <a:off x="3116062" y="402042"/>
            <a:ext cx="3736225" cy="408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質問に困ったら聞いてみましょう！</a:t>
            </a:r>
            <a:endParaRPr lang="en-US" altLang="ja-JP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877D4937-B8D2-3FC6-9B20-E8C86D702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288752"/>
              </p:ext>
            </p:extLst>
          </p:nvPr>
        </p:nvGraphicFramePr>
        <p:xfrm>
          <a:off x="1002214" y="1450316"/>
          <a:ext cx="8717638" cy="445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8819">
                  <a:extLst>
                    <a:ext uri="{9D8B030D-6E8A-4147-A177-3AD203B41FA5}">
                      <a16:colId xmlns:a16="http://schemas.microsoft.com/office/drawing/2014/main" val="3777290437"/>
                    </a:ext>
                  </a:extLst>
                </a:gridCol>
                <a:gridCol w="4358819">
                  <a:extLst>
                    <a:ext uri="{9D8B030D-6E8A-4147-A177-3AD203B41FA5}">
                      <a16:colId xmlns:a16="http://schemas.microsoft.com/office/drawing/2014/main" val="3537072629"/>
                    </a:ext>
                  </a:extLst>
                </a:gridCol>
              </a:tblGrid>
              <a:tr h="430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800" b="1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一日の業務の流れ</a:t>
                      </a:r>
                      <a:endParaRPr lang="en-US" altLang="ja-JP" sz="1800" b="1" dirty="0">
                        <a:solidFill>
                          <a:srgbClr val="00206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kern="1200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業界研究・企業研究の方法　　</a:t>
                      </a:r>
                      <a:endParaRPr kumimoji="1" lang="ja-JP" altLang="en-US" sz="1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555226"/>
                  </a:ext>
                </a:extLst>
              </a:tr>
              <a:tr h="3294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800" b="1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業務の中で意識していること</a:t>
                      </a:r>
                      <a:endParaRPr lang="en-US" altLang="ja-JP" sz="1800" b="1" dirty="0">
                        <a:solidFill>
                          <a:srgbClr val="00206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kern="1200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自分に合った企業・職種の見つけ方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35594"/>
                  </a:ext>
                </a:extLst>
              </a:tr>
              <a:tr h="430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800" b="1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やりがいを感じる瞬間</a:t>
                      </a:r>
                      <a:endParaRPr lang="en-US" altLang="ja-JP" sz="1800" b="1" dirty="0">
                        <a:solidFill>
                          <a:srgbClr val="00206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kern="1200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就活の軸は？そのきっかけは？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888403"/>
                  </a:ext>
                </a:extLst>
              </a:tr>
              <a:tr h="430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800" b="1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業務で役に立ったこと</a:t>
                      </a:r>
                      <a:r>
                        <a:rPr lang="en-US" altLang="ja-JP" sz="1000" b="1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lang="ja-JP" altLang="en-US" sz="1000" b="1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強みや経験、資格など</a:t>
                      </a:r>
                      <a:r>
                        <a:rPr lang="en-US" altLang="ja-JP" sz="1000" b="1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  <a:endParaRPr lang="en-US" altLang="ja-JP" sz="1000" b="1" u="sng" dirty="0">
                        <a:solidFill>
                          <a:srgbClr val="00206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kern="1200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自己分析の方法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172195"/>
                  </a:ext>
                </a:extLst>
              </a:tr>
              <a:tr h="430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800" b="1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今頑張っていること</a:t>
                      </a:r>
                      <a:endParaRPr lang="en-US" altLang="ja-JP" sz="1800" b="1" dirty="0">
                        <a:solidFill>
                          <a:srgbClr val="00206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kern="1200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自分の強み・弱みの見つけ方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526506"/>
                  </a:ext>
                </a:extLst>
              </a:tr>
              <a:tr h="430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kern="1200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KCCS</a:t>
                      </a:r>
                      <a:r>
                        <a:rPr kumimoji="1" lang="ja-JP" altLang="en-US" sz="1800" b="1" kern="1200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入社の決め手</a:t>
                      </a:r>
                      <a:endParaRPr kumimoji="1" lang="en-US" altLang="ja-JP" sz="1800" b="1" kern="1200" dirty="0">
                        <a:solidFill>
                          <a:srgbClr val="00206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kern="1200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面接で心がけていたこと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680181"/>
                  </a:ext>
                </a:extLst>
              </a:tr>
              <a:tr h="430736">
                <a:tc>
                  <a:txBody>
                    <a:bodyPr/>
                    <a:lstStyle/>
                    <a:p>
                      <a:pPr algn="l"/>
                      <a:r>
                        <a:rPr lang="en-US" altLang="ja-JP" sz="1800" b="1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KCCS</a:t>
                      </a:r>
                      <a:r>
                        <a:rPr lang="ja-JP" altLang="en-US" sz="1800" b="1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に入社して感じたことやギャップ</a:t>
                      </a:r>
                      <a:endParaRPr lang="en-US" altLang="ja-JP" sz="1800" b="1" dirty="0">
                        <a:solidFill>
                          <a:srgbClr val="00206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kern="1200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面接で実際に話していたこと</a:t>
                      </a:r>
                      <a:endParaRPr kumimoji="1" lang="ja-JP" altLang="en-US" sz="1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955603"/>
                  </a:ext>
                </a:extLst>
              </a:tr>
              <a:tr h="430736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800" b="1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部署の雰囲気</a:t>
                      </a:r>
                      <a:endParaRPr kumimoji="1" lang="ja-JP" altLang="en-US" sz="1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kern="1200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面接練習方法</a:t>
                      </a:r>
                      <a:r>
                        <a:rPr kumimoji="1" lang="ja-JP" altLang="en-US" sz="1000" b="1" kern="1200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（キャリアセンター？先輩や友人？）</a:t>
                      </a:r>
                    </a:p>
                    <a:p>
                      <a:pPr algn="l"/>
                      <a:endParaRPr kumimoji="1" lang="ja-JP" altLang="en-US" sz="1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760861"/>
                  </a:ext>
                </a:extLst>
              </a:tr>
              <a:tr h="430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800" b="1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KCCS</a:t>
                      </a:r>
                      <a:r>
                        <a:rPr lang="ja-JP" altLang="en-US" sz="1800" b="1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の嬉しい制度</a:t>
                      </a:r>
                      <a:endParaRPr lang="en-US" altLang="ja-JP" sz="1800" b="1" dirty="0">
                        <a:solidFill>
                          <a:srgbClr val="00206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139275"/>
                  </a:ext>
                </a:extLst>
              </a:tr>
              <a:tr h="430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800" b="1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プライベートと仕事の両立</a:t>
                      </a:r>
                      <a:endParaRPr kumimoji="1" lang="ja-JP" altLang="en-US" sz="1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101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946307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コンテンツ プレースホルダー 2"/>
          <p:cNvSpPr txBox="1">
            <a:spLocks/>
          </p:cNvSpPr>
          <p:nvPr/>
        </p:nvSpPr>
        <p:spPr bwMode="auto">
          <a:xfrm>
            <a:off x="1428211" y="1389631"/>
            <a:ext cx="9332021" cy="4730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800" b="1" dirty="0">
                <a:solidFill>
                  <a:srgbClr val="00206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・有休はとりやすいですか？</a:t>
            </a:r>
            <a:endParaRPr lang="en-US" altLang="ja-JP" sz="2800" b="1" dirty="0">
              <a:solidFill>
                <a:srgbClr val="00206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rgbClr val="00206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・福利厚生はどんなものがありますか？</a:t>
            </a:r>
            <a:endParaRPr lang="en-US" altLang="ja-JP" sz="2800" b="1" dirty="0">
              <a:solidFill>
                <a:srgbClr val="00206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rgbClr val="00206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・家賃補助はでますか？</a:t>
            </a:r>
            <a:endParaRPr lang="en-US" altLang="ja-JP" sz="2800" b="1" dirty="0">
              <a:solidFill>
                <a:srgbClr val="00206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rgbClr val="00206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・社員寮はありますか？</a:t>
            </a:r>
            <a:endParaRPr lang="en-US" altLang="ja-JP" sz="2800" b="1" dirty="0">
              <a:solidFill>
                <a:srgbClr val="00206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rgbClr val="00206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・人事評価について</a:t>
            </a:r>
            <a:endParaRPr lang="en-US" altLang="ja-JP" sz="2800" b="1" dirty="0">
              <a:solidFill>
                <a:srgbClr val="00206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rgbClr val="00206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・入社までに取るべき資格はありますか？</a:t>
            </a:r>
            <a:endParaRPr lang="en-US" altLang="ja-JP" sz="2800" b="1" dirty="0">
              <a:solidFill>
                <a:srgbClr val="00206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rgbClr val="00206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・入社前の研修はありますか？</a:t>
            </a:r>
            <a:endParaRPr lang="en-US" altLang="ja-JP" sz="2800" b="1" dirty="0">
              <a:solidFill>
                <a:srgbClr val="00206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rgbClr val="00206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・文系でもシステムエンジニアになれますか？</a:t>
            </a:r>
            <a:endParaRPr lang="en-US" altLang="ja-JP" sz="2800" b="1" dirty="0">
              <a:solidFill>
                <a:srgbClr val="00206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rgbClr val="00206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・求める人物像は？</a:t>
            </a:r>
            <a:endParaRPr lang="en-US" altLang="ja-JP" sz="2800" b="1" dirty="0">
              <a:solidFill>
                <a:srgbClr val="00206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3200" b="1" dirty="0">
              <a:solidFill>
                <a:srgbClr val="00206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166" y="3754749"/>
            <a:ext cx="2509595" cy="2609789"/>
          </a:xfrm>
          <a:prstGeom prst="rect">
            <a:avLst/>
          </a:prstGeom>
        </p:spPr>
      </p:pic>
      <p:sp>
        <p:nvSpPr>
          <p:cNvPr id="6" name="テキスト ボックス 7"/>
          <p:cNvSpPr txBox="1">
            <a:spLocks noChangeArrowheads="1"/>
          </p:cNvSpPr>
          <p:nvPr/>
        </p:nvSpPr>
        <p:spPr bwMode="auto">
          <a:xfrm>
            <a:off x="761321" y="329135"/>
            <a:ext cx="5223843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よくある質問</a:t>
            </a:r>
            <a:r>
              <a:rPr lang="en-US" altLang="ja-JP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参考</a:t>
            </a:r>
            <a:r>
              <a:rPr lang="en-US" altLang="ja-JP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 </a:t>
            </a:r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採用</a:t>
            </a:r>
            <a:r>
              <a:rPr lang="en-US" altLang="ja-JP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ver</a:t>
            </a:r>
            <a:endParaRPr lang="ja-JP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0853170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8777</TotalTime>
  <Words>238</Words>
  <Application>Microsoft Office PowerPoint</Application>
  <PresentationFormat>ワイド画面</PresentationFormat>
  <Paragraphs>41</Paragraphs>
  <Slides>2</Slides>
  <Notes>2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10" baseType="lpstr">
      <vt:lpstr>BIZ UDPゴシック</vt:lpstr>
      <vt:lpstr>HGP創英角ｺﾞｼｯｸUB</vt:lpstr>
      <vt:lpstr>HGSｺﾞｼｯｸM</vt:lpstr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>HPC013758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田中　夏希</dc:creator>
  <cp:lastModifiedBy>190450148</cp:lastModifiedBy>
  <cp:revision>552</cp:revision>
  <dcterms:created xsi:type="dcterms:W3CDTF">2023-10-24T04:17:01Z</dcterms:created>
  <dcterms:modified xsi:type="dcterms:W3CDTF">2024-11-21T07:41:18Z</dcterms:modified>
</cp:coreProperties>
</file>
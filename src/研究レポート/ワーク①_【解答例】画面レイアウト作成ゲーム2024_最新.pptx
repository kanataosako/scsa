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9" r:id="rId2"/>
    <p:sldId id="258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B200"/>
    <a:srgbClr val="D1E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331" autoAdjust="0"/>
  </p:normalViewPr>
  <p:slideViewPr>
    <p:cSldViewPr snapToGrid="0">
      <p:cViewPr varScale="1">
        <p:scale>
          <a:sx n="55" d="100"/>
          <a:sy n="55" d="100"/>
        </p:scale>
        <p:origin x="1624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2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FC1C0C-5281-43B5-8232-90E77EA3FEAC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06A0A-00DF-4318-822E-BD9BDFEA5BF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1402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73369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解答例になります。</a:t>
            </a:r>
            <a:endParaRPr kumimoji="1" lang="en-US" altLang="ja-JP" dirty="0"/>
          </a:p>
          <a:p>
            <a:r>
              <a:rPr kumimoji="1" lang="ja-JP" altLang="en-US" dirty="0"/>
              <a:t>システムメニュー欄</a:t>
            </a:r>
            <a:endParaRPr kumimoji="1" lang="en-US" altLang="ja-JP" dirty="0"/>
          </a:p>
          <a:p>
            <a:r>
              <a:rPr kumimoji="1" lang="ja-JP" altLang="en-US" dirty="0"/>
              <a:t>検索欄</a:t>
            </a:r>
            <a:endParaRPr kumimoji="1" lang="en-US" altLang="ja-JP" dirty="0"/>
          </a:p>
          <a:p>
            <a:r>
              <a:rPr kumimoji="1" lang="ja-JP" altLang="en-US" dirty="0"/>
              <a:t>検索結果欄</a:t>
            </a:r>
            <a:endParaRPr kumimoji="1" lang="en-US" altLang="ja-JP" dirty="0"/>
          </a:p>
          <a:p>
            <a:r>
              <a:rPr kumimoji="1" lang="ja-JP" altLang="en-US" dirty="0"/>
              <a:t>ランキング表示欄</a:t>
            </a:r>
            <a:endParaRPr kumimoji="1" lang="en-US" altLang="ja-JP" dirty="0"/>
          </a:p>
          <a:p>
            <a:r>
              <a:rPr kumimoji="1" lang="ja-JP" altLang="en-US" dirty="0"/>
              <a:t>の</a:t>
            </a:r>
            <a:r>
              <a:rPr kumimoji="1" lang="en-US" altLang="ja-JP" dirty="0"/>
              <a:t>4</a:t>
            </a:r>
            <a:r>
              <a:rPr kumimoji="1" lang="ja-JP" altLang="en-US" dirty="0"/>
              <a:t>つがこのようなレイアウトで配置されています。</a:t>
            </a:r>
            <a:endParaRPr kumimoji="1" lang="en-US" altLang="ja-JP" dirty="0"/>
          </a:p>
          <a:p>
            <a:r>
              <a:rPr kumimoji="1" lang="ja-JP" altLang="en-US" dirty="0"/>
              <a:t>あと、セラさんの要望であった（資料）</a:t>
            </a:r>
            <a:endParaRPr kumimoji="1" lang="en-US" altLang="ja-JP" dirty="0"/>
          </a:p>
          <a:p>
            <a:r>
              <a:rPr kumimoji="1" lang="ja-JP" altLang="en-US"/>
              <a:t>ポイントとしては（資料）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06A0A-00DF-4318-822E-BD9BDFEA5BF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6483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8303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63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638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770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6091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4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138953" y="162392"/>
            <a:ext cx="8866094" cy="653321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5477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866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60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9394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6681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コンテンツ（装飾あり）">
  <p:cSld name="コンテンツ（装飾あり）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2"/>
          <p:cNvPicPr preferRelativeResize="0"/>
          <p:nvPr/>
        </p:nvPicPr>
        <p:blipFill rotWithShape="1">
          <a:blip r:embed="rId2">
            <a:alphaModFix/>
          </a:blip>
          <a:srcRect l="4933" r="87504"/>
          <a:stretch/>
        </p:blipFill>
        <p:spPr>
          <a:xfrm>
            <a:off x="0" y="132"/>
            <a:ext cx="691662" cy="685786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12"/>
          <p:cNvGrpSpPr/>
          <p:nvPr/>
        </p:nvGrpSpPr>
        <p:grpSpPr>
          <a:xfrm>
            <a:off x="871538" y="694895"/>
            <a:ext cx="7888531" cy="46800"/>
            <a:chOff x="944165" y="694895"/>
            <a:chExt cx="8545909" cy="71438"/>
          </a:xfrm>
        </p:grpSpPr>
        <p:sp>
          <p:nvSpPr>
            <p:cNvPr id="22" name="Google Shape;22;p12"/>
            <p:cNvSpPr/>
            <p:nvPr/>
          </p:nvSpPr>
          <p:spPr>
            <a:xfrm>
              <a:off x="944165" y="694895"/>
              <a:ext cx="8545909" cy="71438"/>
            </a:xfrm>
            <a:prstGeom prst="rect">
              <a:avLst/>
            </a:prstGeom>
            <a:solidFill>
              <a:srgbClr val="FF2540"/>
            </a:solidFill>
            <a:ln>
              <a:noFill/>
            </a:ln>
          </p:spPr>
          <p:txBody>
            <a:bodyPr spcFirstLastPara="1" wrap="square" lIns="25200" tIns="25200" rIns="25200" bIns="25200" anchor="ctr" anchorCtr="0">
              <a:noAutofit/>
            </a:bodyPr>
            <a:lstStyle/>
            <a:p>
              <a:pPr marL="262311" marR="0" lvl="0" indent="-262311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9B00"/>
                </a:buClr>
                <a:buSzPts val="900"/>
                <a:buFont typeface="Arial"/>
                <a:buNone/>
              </a:pPr>
              <a:endParaRPr sz="8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2"/>
            <p:cNvSpPr/>
            <p:nvPr/>
          </p:nvSpPr>
          <p:spPr>
            <a:xfrm>
              <a:off x="9199969" y="694895"/>
              <a:ext cx="72157" cy="71438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25200" tIns="25200" rIns="25200" bIns="25200" anchor="ctr" anchorCtr="0">
              <a:noAutofit/>
            </a:bodyPr>
            <a:lstStyle/>
            <a:p>
              <a:pPr marL="262311" marR="0" lvl="0" indent="-262311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9B00"/>
                </a:buClr>
                <a:buSzPts val="900"/>
                <a:buFont typeface="Arial"/>
                <a:buNone/>
              </a:pPr>
              <a:endParaRPr sz="8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9346489" y="694895"/>
              <a:ext cx="72157" cy="71438"/>
            </a:xfrm>
            <a:prstGeom prst="rect">
              <a:avLst/>
            </a:prstGeom>
            <a:solidFill>
              <a:srgbClr val="EBEEF1"/>
            </a:solidFill>
            <a:ln>
              <a:noFill/>
            </a:ln>
          </p:spPr>
          <p:txBody>
            <a:bodyPr spcFirstLastPara="1" wrap="square" lIns="25200" tIns="25200" rIns="25200" bIns="25200" anchor="ctr" anchorCtr="0">
              <a:noAutofit/>
            </a:bodyPr>
            <a:lstStyle/>
            <a:p>
              <a:pPr marL="262311" marR="0" lvl="0" indent="-262311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9B00"/>
                </a:buClr>
                <a:buSzPts val="900"/>
                <a:buFont typeface="Arial"/>
                <a:buNone/>
              </a:pPr>
              <a:endParaRPr sz="83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" name="Google Shape;25;p12"/>
          <p:cNvSpPr/>
          <p:nvPr/>
        </p:nvSpPr>
        <p:spPr>
          <a:xfrm>
            <a:off x="4365199" y="6625546"/>
            <a:ext cx="413604" cy="126914"/>
          </a:xfrm>
          <a:prstGeom prst="parallelogram">
            <a:avLst>
              <a:gd name="adj" fmla="val 64235"/>
            </a:avLst>
          </a:prstGeom>
          <a:solidFill>
            <a:srgbClr val="D8D8D8"/>
          </a:solidFill>
          <a:ln>
            <a:noFill/>
          </a:ln>
          <a:effectLst>
            <a:outerShdw blurRad="12700" dist="12700" dir="2400000" algn="ctr" rotWithShape="0">
              <a:srgbClr val="000000">
                <a:alpha val="60000"/>
              </a:srgbClr>
            </a:outerShdw>
          </a:effectLst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2"/>
          <p:cNvSpPr/>
          <p:nvPr/>
        </p:nvSpPr>
        <p:spPr>
          <a:xfrm>
            <a:off x="871538" y="6554936"/>
            <a:ext cx="7888985" cy="18000"/>
          </a:xfrm>
          <a:prstGeom prst="rect">
            <a:avLst/>
          </a:prstGeom>
          <a:solidFill>
            <a:srgbClr val="FF2540"/>
          </a:solidFill>
          <a:ln>
            <a:noFill/>
          </a:ln>
        </p:spPr>
        <p:txBody>
          <a:bodyPr spcFirstLastPara="1" wrap="square" lIns="23262" tIns="23262" rIns="23262" bIns="23262" anchor="ctr" anchorCtr="0">
            <a:noAutofit/>
          </a:bodyPr>
          <a:lstStyle/>
          <a:p>
            <a:pPr marL="262311" marR="0" lvl="0" indent="-26231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9B00"/>
              </a:buClr>
              <a:buSzPts val="900"/>
              <a:buFont typeface="Arial"/>
              <a:buNone/>
            </a:pPr>
            <a:endParaRPr sz="831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2"/>
          <p:cNvSpPr txBox="1">
            <a:spLocks noGrp="1"/>
          </p:cNvSpPr>
          <p:nvPr>
            <p:ph type="sldNum" idx="12"/>
          </p:nvPr>
        </p:nvSpPr>
        <p:spPr>
          <a:xfrm>
            <a:off x="3543300" y="649279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923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80616" y="127450"/>
            <a:ext cx="6640350" cy="63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585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/>
          <p:nvPr/>
        </p:nvSpPr>
        <p:spPr>
          <a:xfrm>
            <a:off x="7750602" y="166689"/>
            <a:ext cx="1054725" cy="27656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4392" tIns="42185" rIns="84392" bIns="4218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66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709" y="148186"/>
            <a:ext cx="1224618" cy="509717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2"/>
          <p:cNvSpPr/>
          <p:nvPr/>
        </p:nvSpPr>
        <p:spPr>
          <a:xfrm>
            <a:off x="6311565" y="6635577"/>
            <a:ext cx="2448505" cy="124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800"/>
              <a:buFont typeface="Arial"/>
              <a:buNone/>
            </a:pPr>
            <a:r>
              <a:rPr lang="en-US" altLang="ja-JP" sz="738" b="0" i="0" u="none" strike="noStrike" cap="none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© KYOCERA Communication Systems Co., Ltd.</a:t>
            </a:r>
            <a:endParaRPr sz="738" b="0" i="0" u="none" strike="noStrike" cap="none">
              <a:solidFill>
                <a:srgbClr val="0C0C0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80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962BA-D790-4BF7-99B8-E7E9E447564B}" type="datetimeFigureOut">
              <a:rPr kumimoji="1" lang="ja-JP" altLang="en-US" smtClean="0"/>
              <a:t>2024/11/22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E4674-295C-426F-937E-603FCE3C16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3988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sldNum" idx="12"/>
          </p:nvPr>
        </p:nvSpPr>
        <p:spPr>
          <a:xfrm>
            <a:off x="3543300" y="6257116"/>
            <a:ext cx="2057400" cy="3370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ctr" anchorCtr="0">
            <a:noAutofit/>
          </a:bodyPr>
          <a:lstStyle/>
          <a:p>
            <a:fld id="{00000000-1234-1234-1234-123412341234}" type="slidenum">
              <a:rPr lang="en-US" altLang="ja-JP"/>
              <a:pPr/>
              <a:t>1</a:t>
            </a:fld>
            <a:endParaRPr/>
          </a:p>
        </p:txBody>
      </p:sp>
      <p:sp>
        <p:nvSpPr>
          <p:cNvPr id="65" name="Google Shape;65;p3"/>
          <p:cNvSpPr txBox="1">
            <a:spLocks noGrp="1"/>
          </p:cNvSpPr>
          <p:nvPr>
            <p:ph type="title"/>
          </p:nvPr>
        </p:nvSpPr>
        <p:spPr>
          <a:xfrm>
            <a:off x="880617" y="153175"/>
            <a:ext cx="6640350" cy="5830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84392" tIns="42185" rIns="84392" bIns="42185" rtlCol="0" anchor="ctr" anchorCtr="0">
            <a:normAutofit/>
          </a:bodyPr>
          <a:lstStyle/>
          <a:p>
            <a:r>
              <a:rPr lang="ja-JP" altLang="en-US" b="1" dirty="0"/>
              <a:t>画面表示内容</a:t>
            </a:r>
            <a:endParaRPr b="1" dirty="0"/>
          </a:p>
        </p:txBody>
      </p:sp>
      <p:sp>
        <p:nvSpPr>
          <p:cNvPr id="11" name="正方形/長方形 10"/>
          <p:cNvSpPr/>
          <p:nvPr/>
        </p:nvSpPr>
        <p:spPr>
          <a:xfrm>
            <a:off x="7156464" y="1112450"/>
            <a:ext cx="1640533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ランキング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表示欄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</p:txBody>
      </p:sp>
      <p:sp>
        <p:nvSpPr>
          <p:cNvPr id="12" name="正方形/長方形 11"/>
          <p:cNvSpPr/>
          <p:nvPr/>
        </p:nvSpPr>
        <p:spPr>
          <a:xfrm>
            <a:off x="2876091" y="1112450"/>
            <a:ext cx="1968560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検索条件欄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662" dirty="0">
              <a:solidFill>
                <a:sysClr val="windowText" lastClr="000000"/>
              </a:solidFill>
            </a:endParaRPr>
          </a:p>
          <a:p>
            <a:endParaRPr lang="en-US" altLang="ja-JP" sz="1662" dirty="0">
              <a:solidFill>
                <a:sysClr val="windowText" lastClr="000000"/>
              </a:solidFill>
            </a:endParaRPr>
          </a:p>
          <a:p>
            <a:endParaRPr lang="en-US" altLang="ja-JP" sz="1662" dirty="0">
              <a:solidFill>
                <a:sysClr val="windowText" lastClr="000000"/>
              </a:solidFill>
            </a:endParaRPr>
          </a:p>
          <a:p>
            <a:endParaRPr lang="en-US" altLang="ja-JP" sz="1662" dirty="0">
              <a:solidFill>
                <a:sysClr val="windowText" lastClr="000000"/>
              </a:solidFill>
            </a:endParaRPr>
          </a:p>
          <a:p>
            <a:r>
              <a:rPr lang="ja-JP" altLang="en-US" sz="1662" dirty="0">
                <a:solidFill>
                  <a:sysClr val="windowText" lastClr="000000"/>
                </a:solidFill>
              </a:rPr>
              <a:t>　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・フリーワード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・ジャンル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・調理時間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・食材数</a:t>
            </a:r>
            <a:endParaRPr lang="en-US" altLang="ja-JP" sz="1100" dirty="0">
              <a:solidFill>
                <a:sysClr val="windowText" lastClr="000000"/>
              </a:solidFill>
            </a:endParaRPr>
          </a:p>
        </p:txBody>
      </p:sp>
      <p:sp>
        <p:nvSpPr>
          <p:cNvPr id="13" name="正方形/長方形 12"/>
          <p:cNvSpPr/>
          <p:nvPr/>
        </p:nvSpPr>
        <p:spPr>
          <a:xfrm>
            <a:off x="880617" y="1112450"/>
            <a:ext cx="1769694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システム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メニュー欄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662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662" dirty="0">
              <a:solidFill>
                <a:sysClr val="windowText" lastClr="000000"/>
              </a:solidFill>
            </a:endParaRPr>
          </a:p>
          <a:p>
            <a:r>
              <a:rPr lang="ja-JP" altLang="en-US" sz="1662" dirty="0">
                <a:solidFill>
                  <a:sysClr val="windowText" lastClr="000000"/>
                </a:solidFill>
              </a:rPr>
              <a:t>　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・システムタイトル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（</a:t>
            </a:r>
            <a:r>
              <a:rPr lang="en-US" altLang="ja-JP" sz="1100" dirty="0" err="1">
                <a:solidFill>
                  <a:sysClr val="windowText" lastClr="000000"/>
                </a:solidFill>
              </a:rPr>
              <a:t>Cera’s</a:t>
            </a:r>
            <a:r>
              <a:rPr lang="en-US" altLang="ja-JP" sz="1100" dirty="0">
                <a:solidFill>
                  <a:sysClr val="windowText" lastClr="000000"/>
                </a:solidFill>
              </a:rPr>
              <a:t> Kitchen</a:t>
            </a: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　</a:t>
            </a:r>
            <a:r>
              <a:rPr lang="en-US" altLang="ja-JP" sz="1100" dirty="0">
                <a:solidFill>
                  <a:sysClr val="windowText" lastClr="000000"/>
                </a:solidFill>
              </a:rPr>
              <a:t>-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セラズキッチン</a:t>
            </a:r>
            <a:r>
              <a:rPr lang="en-US" altLang="ja-JP" sz="1100" dirty="0">
                <a:solidFill>
                  <a:sysClr val="windowText" lastClr="000000"/>
                </a:solidFill>
              </a:rPr>
              <a:t>-</a:t>
            </a:r>
            <a:r>
              <a:rPr lang="ja-JP" altLang="en-US" sz="1100" dirty="0">
                <a:solidFill>
                  <a:sysClr val="windowText" lastClr="000000"/>
                </a:solidFill>
              </a:rPr>
              <a:t>）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・ホーム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・マイページ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r>
              <a:rPr lang="ja-JP" altLang="en-US" sz="1100" dirty="0">
                <a:solidFill>
                  <a:sysClr val="windowText" lastClr="000000"/>
                </a:solidFill>
              </a:rPr>
              <a:t>　・ログアウト</a:t>
            </a:r>
            <a:endParaRPr lang="en-US" altLang="ja-JP" sz="1100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100" dirty="0">
              <a:solidFill>
                <a:sysClr val="windowText" lastClr="000000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5070432" y="1112450"/>
            <a:ext cx="1860251" cy="49751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4406" tIns="42203" rIns="84406" bIns="42203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846" b="1" dirty="0">
                <a:solidFill>
                  <a:sysClr val="windowText" lastClr="000000"/>
                </a:solidFill>
              </a:rPr>
              <a:t>検索結果表示欄</a:t>
            </a:r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  <a:p>
            <a:pPr algn="ctr"/>
            <a:endParaRPr lang="en-US" altLang="ja-JP" sz="1846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02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角丸四角形 58"/>
          <p:cNvSpPr/>
          <p:nvPr/>
        </p:nvSpPr>
        <p:spPr>
          <a:xfrm>
            <a:off x="8212770" y="5360859"/>
            <a:ext cx="581938" cy="27012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/>
          <p:cNvSpPr/>
          <p:nvPr/>
        </p:nvSpPr>
        <p:spPr>
          <a:xfrm>
            <a:off x="137160" y="855756"/>
            <a:ext cx="2194560" cy="587044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/>
          <p:cNvSpPr/>
          <p:nvPr/>
        </p:nvSpPr>
        <p:spPr>
          <a:xfrm>
            <a:off x="137160" y="170688"/>
            <a:ext cx="8869680" cy="670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4000" b="1" dirty="0" err="1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Cera’s</a:t>
            </a:r>
            <a:r>
              <a:rPr kumimoji="1" lang="en-US" altLang="ja-JP" sz="40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 Kitchen</a:t>
            </a:r>
            <a:r>
              <a:rPr kumimoji="1" lang="ja-JP" altLang="en-US" sz="40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 </a:t>
            </a:r>
            <a:r>
              <a:rPr kumimoji="1" lang="en-US" altLang="ja-JP" sz="40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-</a:t>
            </a:r>
            <a:r>
              <a:rPr kumimoji="1" lang="ja-JP" altLang="en-US" sz="28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セラズキッチン</a:t>
            </a:r>
            <a:r>
              <a:rPr kumimoji="1" lang="en-US" altLang="ja-JP" sz="4000" b="1" dirty="0">
                <a:ln w="3175">
                  <a:solidFill>
                    <a:schemeClr val="bg2">
                      <a:lumMod val="25000"/>
                    </a:schemeClr>
                  </a:solidFill>
                  <a:prstDash val="solid"/>
                </a:ln>
                <a:solidFill>
                  <a:schemeClr val="bg1"/>
                </a:solidFill>
                <a:latin typeface="Edwardian Script ITC" panose="030303020407070D0804" pitchFamily="66" charset="0"/>
              </a:rPr>
              <a:t>-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-1600200" y="17068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30</a:t>
            </a:r>
            <a:r>
              <a:rPr kumimoji="1" lang="ja-JP" altLang="en-US" dirty="0"/>
              <a:t>分で作成</a:t>
            </a:r>
          </a:p>
        </p:txBody>
      </p:sp>
      <p:sp>
        <p:nvSpPr>
          <p:cNvPr id="6" name="正方形/長方形 5"/>
          <p:cNvSpPr/>
          <p:nvPr/>
        </p:nvSpPr>
        <p:spPr>
          <a:xfrm>
            <a:off x="2331720" y="5522976"/>
            <a:ext cx="6675120" cy="11887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800" b="1" dirty="0">
              <a:solidFill>
                <a:sysClr val="windowText" lastClr="000000"/>
              </a:solidFill>
            </a:endParaRPr>
          </a:p>
        </p:txBody>
      </p:sp>
      <p:pic>
        <p:nvPicPr>
          <p:cNvPr id="1026" name="Picture 2" descr="ホーム・家のアイコン03 | フリーのアイコンイラスト素材 icon-pi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416" y="532416"/>
            <a:ext cx="269285" cy="26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テキスト ボックス 1"/>
          <p:cNvSpPr txBox="1"/>
          <p:nvPr/>
        </p:nvSpPr>
        <p:spPr>
          <a:xfrm>
            <a:off x="6447581" y="557441"/>
            <a:ext cx="685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ホーム</a:t>
            </a:r>
          </a:p>
        </p:txBody>
      </p:sp>
      <p:grpSp>
        <p:nvGrpSpPr>
          <p:cNvPr id="10" name="グループ化 9"/>
          <p:cNvGrpSpPr/>
          <p:nvPr/>
        </p:nvGrpSpPr>
        <p:grpSpPr>
          <a:xfrm>
            <a:off x="7272420" y="548573"/>
            <a:ext cx="137160" cy="247041"/>
            <a:chOff x="7140340" y="548573"/>
            <a:chExt cx="137160" cy="247041"/>
          </a:xfrm>
        </p:grpSpPr>
        <p:sp>
          <p:nvSpPr>
            <p:cNvPr id="8" name="楕円 7"/>
            <p:cNvSpPr/>
            <p:nvPr/>
          </p:nvSpPr>
          <p:spPr>
            <a:xfrm>
              <a:off x="7140340" y="548573"/>
              <a:ext cx="137160" cy="13148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二等辺三角形 8"/>
            <p:cNvSpPr/>
            <p:nvPr/>
          </p:nvSpPr>
          <p:spPr>
            <a:xfrm>
              <a:off x="7147960" y="602574"/>
              <a:ext cx="121920" cy="193040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/>
          <p:cNvSpPr txBox="1"/>
          <p:nvPr/>
        </p:nvSpPr>
        <p:spPr>
          <a:xfrm>
            <a:off x="7357254" y="595913"/>
            <a:ext cx="6851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マイページ</a:t>
            </a:r>
          </a:p>
        </p:txBody>
      </p:sp>
      <p:pic>
        <p:nvPicPr>
          <p:cNvPr id="1028" name="Picture 4" descr="ログアウト モノクロアイコン フリー素材 – アイコン・イラスト ..."/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277" y="505968"/>
            <a:ext cx="349788" cy="349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/>
          <p:cNvSpPr txBox="1"/>
          <p:nvPr/>
        </p:nvSpPr>
        <p:spPr>
          <a:xfrm>
            <a:off x="8266926" y="595913"/>
            <a:ext cx="68513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7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ログアウト</a:t>
            </a: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37160" y="922020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フリーワード</a:t>
            </a:r>
          </a:p>
        </p:txBody>
      </p:sp>
      <p:sp>
        <p:nvSpPr>
          <p:cNvPr id="14" name="角丸四角形 13"/>
          <p:cNvSpPr/>
          <p:nvPr/>
        </p:nvSpPr>
        <p:spPr>
          <a:xfrm>
            <a:off x="236220" y="1229797"/>
            <a:ext cx="2004060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0" name="Picture 6" descr="虫眼鏡・検索のアイコン | フリーのアイコンイラスト素材 icon-pit"/>
          <p:cNvPicPr>
            <a:picLocks noChangeAspect="1" noChangeArrowheads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279" y="1252275"/>
            <a:ext cx="222195" cy="22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/>
          <p:cNvSpPr txBox="1"/>
          <p:nvPr/>
        </p:nvSpPr>
        <p:spPr>
          <a:xfrm>
            <a:off x="137160" y="174646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ジャンル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37160" y="405079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調理時間</a:t>
            </a: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37160" y="4360459"/>
            <a:ext cx="219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 分　</a:t>
            </a:r>
            <a:r>
              <a:rPr kumimoji="1" lang="en-US" altLang="ja-JP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</a:t>
            </a:r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　分</a:t>
            </a:r>
            <a:endParaRPr kumimoji="1" lang="en-US" altLang="ja-JP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角丸四角形 20"/>
          <p:cNvSpPr/>
          <p:nvPr/>
        </p:nvSpPr>
        <p:spPr>
          <a:xfrm>
            <a:off x="1399044" y="4360459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- 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角丸四角形 21"/>
          <p:cNvSpPr/>
          <p:nvPr/>
        </p:nvSpPr>
        <p:spPr>
          <a:xfrm>
            <a:off x="236220" y="4373749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二等辺三角形 14"/>
          <p:cNvSpPr/>
          <p:nvPr/>
        </p:nvSpPr>
        <p:spPr>
          <a:xfrm rot="10800000">
            <a:off x="1743456" y="4459450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24"/>
          <p:cNvSpPr/>
          <p:nvPr/>
        </p:nvSpPr>
        <p:spPr>
          <a:xfrm rot="10800000">
            <a:off x="579222" y="4459450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角丸四角形 25"/>
          <p:cNvSpPr/>
          <p:nvPr/>
        </p:nvSpPr>
        <p:spPr>
          <a:xfrm>
            <a:off x="232409" y="2090910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角丸四角形 26"/>
          <p:cNvSpPr/>
          <p:nvPr/>
        </p:nvSpPr>
        <p:spPr>
          <a:xfrm>
            <a:off x="1199654" y="1796696"/>
            <a:ext cx="199390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328684" y="178527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すべて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430569" y="2071207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和風</a:t>
            </a:r>
          </a:p>
        </p:txBody>
      </p:sp>
      <p:sp>
        <p:nvSpPr>
          <p:cNvPr id="30" name="角丸四角形 29"/>
          <p:cNvSpPr/>
          <p:nvPr/>
        </p:nvSpPr>
        <p:spPr>
          <a:xfrm>
            <a:off x="232409" y="2374917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430569" y="2355214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洋風</a:t>
            </a:r>
          </a:p>
        </p:txBody>
      </p:sp>
      <p:sp>
        <p:nvSpPr>
          <p:cNvPr id="32" name="角丸四角形 31"/>
          <p:cNvSpPr/>
          <p:nvPr/>
        </p:nvSpPr>
        <p:spPr>
          <a:xfrm>
            <a:off x="232409" y="2658924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430569" y="2639221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中華風</a:t>
            </a:r>
          </a:p>
        </p:txBody>
      </p:sp>
      <p:sp>
        <p:nvSpPr>
          <p:cNvPr id="34" name="角丸四角形 33"/>
          <p:cNvSpPr/>
          <p:nvPr/>
        </p:nvSpPr>
        <p:spPr>
          <a:xfrm>
            <a:off x="232409" y="2942931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30569" y="2923228"/>
            <a:ext cx="6903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韓国風</a:t>
            </a:r>
          </a:p>
        </p:txBody>
      </p:sp>
      <p:sp>
        <p:nvSpPr>
          <p:cNvPr id="36" name="角丸四角形 35"/>
          <p:cNvSpPr/>
          <p:nvPr/>
        </p:nvSpPr>
        <p:spPr>
          <a:xfrm>
            <a:off x="232409" y="3226938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30569" y="3207235"/>
            <a:ext cx="11680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エスニック風</a:t>
            </a:r>
          </a:p>
        </p:txBody>
      </p:sp>
      <p:sp>
        <p:nvSpPr>
          <p:cNvPr id="38" name="角丸四角形 37"/>
          <p:cNvSpPr/>
          <p:nvPr/>
        </p:nvSpPr>
        <p:spPr>
          <a:xfrm>
            <a:off x="232409" y="3510945"/>
            <a:ext cx="225291" cy="19799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/>
          <p:cNvSpPr txBox="1"/>
          <p:nvPr/>
        </p:nvSpPr>
        <p:spPr>
          <a:xfrm>
            <a:off x="430569" y="3491238"/>
            <a:ext cx="116801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その他</a:t>
            </a:r>
          </a:p>
        </p:txBody>
      </p:sp>
      <p:sp>
        <p:nvSpPr>
          <p:cNvPr id="40" name="テキスト ボックス 39"/>
          <p:cNvSpPr txBox="1"/>
          <p:nvPr/>
        </p:nvSpPr>
        <p:spPr>
          <a:xfrm>
            <a:off x="137160" y="4890951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食材数</a:t>
            </a:r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137160" y="5200618"/>
            <a:ext cx="21945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 　</a:t>
            </a:r>
            <a:r>
              <a:rPr kumimoji="1" lang="en-US" altLang="ja-JP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~</a:t>
            </a:r>
            <a:r>
              <a:rPr kumimoji="1" lang="ja-JP" altLang="en-US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　　　　</a:t>
            </a:r>
            <a:endParaRPr kumimoji="1" lang="en-US" altLang="ja-JP" sz="1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2" name="角丸四角形 41"/>
          <p:cNvSpPr/>
          <p:nvPr/>
        </p:nvSpPr>
        <p:spPr>
          <a:xfrm>
            <a:off x="1399044" y="5200618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- 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角丸四角形 42"/>
          <p:cNvSpPr/>
          <p:nvPr/>
        </p:nvSpPr>
        <p:spPr>
          <a:xfrm>
            <a:off x="236220" y="5213908"/>
            <a:ext cx="546235" cy="28201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chemeClr val="bg1">
                    <a:lumMod val="50000"/>
                  </a:schemeClr>
                </a:solidFill>
              </a:rPr>
              <a:t>-</a:t>
            </a:r>
            <a:endParaRPr kumimoji="1" lang="ja-JP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二等辺三角形 43"/>
          <p:cNvSpPr/>
          <p:nvPr/>
        </p:nvSpPr>
        <p:spPr>
          <a:xfrm rot="10800000">
            <a:off x="1743456" y="5299609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二等辺三角形 44"/>
          <p:cNvSpPr/>
          <p:nvPr/>
        </p:nvSpPr>
        <p:spPr>
          <a:xfrm rot="10800000">
            <a:off x="579222" y="5299609"/>
            <a:ext cx="140208" cy="109794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角丸四角形 15"/>
          <p:cNvSpPr/>
          <p:nvPr/>
        </p:nvSpPr>
        <p:spPr>
          <a:xfrm>
            <a:off x="1399044" y="6212287"/>
            <a:ext cx="841236" cy="34747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 dirty="0"/>
              <a:t>検索</a:t>
            </a:r>
            <a:endParaRPr kumimoji="1" lang="ja-JP" altLang="en-US" b="1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2325081" y="5569729"/>
            <a:ext cx="173637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 dirty="0">
                <a:solidFill>
                  <a:schemeClr val="bg1">
                    <a:lumMod val="50000"/>
                  </a:schemeClr>
                </a:solidFill>
              </a:rPr>
              <a:t>今日の閲覧数ランキング</a:t>
            </a:r>
          </a:p>
        </p:txBody>
      </p:sp>
      <p:sp>
        <p:nvSpPr>
          <p:cNvPr id="24" name="楕円 23"/>
          <p:cNvSpPr/>
          <p:nvPr/>
        </p:nvSpPr>
        <p:spPr>
          <a:xfrm>
            <a:off x="2438400" y="5831339"/>
            <a:ext cx="213360" cy="2158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1</a:t>
            </a: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49" name="楕円 48"/>
          <p:cNvSpPr/>
          <p:nvPr/>
        </p:nvSpPr>
        <p:spPr>
          <a:xfrm>
            <a:off x="4125991" y="5831340"/>
            <a:ext cx="213360" cy="215893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2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sp>
        <p:nvSpPr>
          <p:cNvPr id="50" name="楕円 49"/>
          <p:cNvSpPr/>
          <p:nvPr/>
        </p:nvSpPr>
        <p:spPr>
          <a:xfrm>
            <a:off x="5810927" y="5848589"/>
            <a:ext cx="174890" cy="1864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chemeClr val="bg1"/>
                </a:solidFill>
              </a:rPr>
              <a:t>３</a:t>
            </a:r>
          </a:p>
        </p:txBody>
      </p:sp>
      <p:sp>
        <p:nvSpPr>
          <p:cNvPr id="51" name="楕円 50"/>
          <p:cNvSpPr/>
          <p:nvPr/>
        </p:nvSpPr>
        <p:spPr>
          <a:xfrm>
            <a:off x="7501618" y="5805377"/>
            <a:ext cx="213360" cy="215893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b="1" dirty="0">
                <a:solidFill>
                  <a:schemeClr val="bg1"/>
                </a:solidFill>
              </a:rPr>
              <a:t>4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pic>
        <p:nvPicPr>
          <p:cNvPr id="1032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t="8077" r="62691" b="63500"/>
          <a:stretch/>
        </p:blipFill>
        <p:spPr bwMode="auto">
          <a:xfrm>
            <a:off x="2795666" y="5845920"/>
            <a:ext cx="846775" cy="5682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84" t="7324" r="5079" b="64253"/>
          <a:stretch/>
        </p:blipFill>
        <p:spPr bwMode="auto">
          <a:xfrm>
            <a:off x="4500207" y="5845920"/>
            <a:ext cx="874526" cy="5869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t="63793" r="62691" b="7784"/>
          <a:stretch/>
        </p:blipFill>
        <p:spPr bwMode="auto">
          <a:xfrm>
            <a:off x="6167716" y="5831337"/>
            <a:ext cx="868504" cy="5828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4" t="35182" r="70566" b="36395"/>
          <a:stretch/>
        </p:blipFill>
        <p:spPr bwMode="auto">
          <a:xfrm>
            <a:off x="7888541" y="5833432"/>
            <a:ext cx="648459" cy="60511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正方形/長方形 46"/>
          <p:cNvSpPr/>
          <p:nvPr/>
        </p:nvSpPr>
        <p:spPr>
          <a:xfrm>
            <a:off x="8646373" y="5881458"/>
            <a:ext cx="296670" cy="506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二等辺三角形 47"/>
          <p:cNvSpPr/>
          <p:nvPr/>
        </p:nvSpPr>
        <p:spPr>
          <a:xfrm rot="5400000">
            <a:off x="8552631" y="5990426"/>
            <a:ext cx="496593" cy="303587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テキスト ボックス 51"/>
          <p:cNvSpPr txBox="1"/>
          <p:nvPr/>
        </p:nvSpPr>
        <p:spPr>
          <a:xfrm>
            <a:off x="2822403" y="6434697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ジューシー肉厚</a:t>
            </a:r>
            <a:endParaRPr kumimoji="1" lang="en-US" altLang="ja-JP" sz="600" dirty="0"/>
          </a:p>
          <a:p>
            <a:r>
              <a:rPr kumimoji="1" lang="ja-JP" altLang="en-US" sz="600" dirty="0"/>
              <a:t>ハンバーグ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564253" y="6449205"/>
            <a:ext cx="5693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生姜香る</a:t>
            </a:r>
            <a:endParaRPr kumimoji="1" lang="en-US" altLang="ja-JP" sz="600" dirty="0"/>
          </a:p>
          <a:p>
            <a:r>
              <a:rPr kumimoji="1" lang="ja-JP" altLang="en-US" sz="600" dirty="0" err="1"/>
              <a:t>うま</a:t>
            </a:r>
            <a:r>
              <a:rPr kumimoji="1" lang="ja-JP" altLang="en-US" sz="600" dirty="0"/>
              <a:t>辛餃子</a:t>
            </a:r>
          </a:p>
        </p:txBody>
      </p:sp>
      <p:sp>
        <p:nvSpPr>
          <p:cNvPr id="61" name="テキスト ボックス 60"/>
          <p:cNvSpPr txBox="1"/>
          <p:nvPr/>
        </p:nvSpPr>
        <p:spPr>
          <a:xfrm>
            <a:off x="6193076" y="6449205"/>
            <a:ext cx="8771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材料</a:t>
            </a:r>
            <a:r>
              <a:rPr kumimoji="1" lang="en-US" altLang="ja-JP" sz="600" dirty="0"/>
              <a:t>3</a:t>
            </a:r>
            <a:r>
              <a:rPr kumimoji="1" lang="ja-JP" altLang="en-US" sz="600" dirty="0"/>
              <a:t>つだけ！</a:t>
            </a:r>
            <a:endParaRPr kumimoji="1" lang="en-US" altLang="ja-JP" sz="600" dirty="0"/>
          </a:p>
          <a:p>
            <a:r>
              <a:rPr kumimoji="1" lang="ja-JP" altLang="en-US" sz="600" dirty="0"/>
              <a:t>トマトソースパスタ</a:t>
            </a:r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7886220" y="6441951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600" dirty="0"/>
              <a:t>シェフ直伝</a:t>
            </a:r>
            <a:endParaRPr kumimoji="1" lang="en-US" altLang="ja-JP" sz="600" dirty="0"/>
          </a:p>
          <a:p>
            <a:r>
              <a:rPr kumimoji="1" lang="ja-JP" altLang="en-US" sz="600" dirty="0"/>
              <a:t>電子レンジでで</a:t>
            </a:r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2438400" y="888001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</a:rPr>
              <a:t>検索結果</a:t>
            </a:r>
            <a:r>
              <a:rPr kumimoji="1" lang="en-US" altLang="ja-JP" sz="1400" b="1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400" b="1" dirty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4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kumimoji="1" lang="ja-JP" alt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8" name="直線コネクタ 57"/>
          <p:cNvCxnSpPr/>
          <p:nvPr/>
        </p:nvCxnSpPr>
        <p:spPr>
          <a:xfrm>
            <a:off x="2545080" y="1252275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/>
          <p:cNvCxnSpPr/>
          <p:nvPr/>
        </p:nvCxnSpPr>
        <p:spPr>
          <a:xfrm>
            <a:off x="2617575" y="2185520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/>
          <p:cNvCxnSpPr/>
          <p:nvPr/>
        </p:nvCxnSpPr>
        <p:spPr>
          <a:xfrm>
            <a:off x="2617471" y="3282400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/>
          <p:cNvCxnSpPr/>
          <p:nvPr/>
        </p:nvCxnSpPr>
        <p:spPr>
          <a:xfrm>
            <a:off x="2617471" y="4352036"/>
            <a:ext cx="599192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0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t="8077" r="62691" b="63500"/>
          <a:stretch/>
        </p:blipFill>
        <p:spPr bwMode="auto">
          <a:xfrm>
            <a:off x="2910840" y="1517572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/>
          <p:cNvSpPr txBox="1"/>
          <p:nvPr/>
        </p:nvSpPr>
        <p:spPr>
          <a:xfrm>
            <a:off x="2825974" y="1296984"/>
            <a:ext cx="18004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>
                <a:solidFill>
                  <a:schemeClr val="bg1">
                    <a:lumMod val="50000"/>
                  </a:schemeClr>
                </a:solidFill>
              </a:rPr>
              <a:t>ジューシー肉厚ハンバーグ</a:t>
            </a: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4747174" y="1502468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調理時間：〇〇分</a:t>
            </a:r>
            <a:endParaRPr kumimoji="1" lang="en-US" altLang="ja-JP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5" name="図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8849515" y="829267"/>
            <a:ext cx="157325" cy="4726046"/>
          </a:xfrm>
          <a:prstGeom prst="rect">
            <a:avLst/>
          </a:prstGeom>
        </p:spPr>
      </p:pic>
      <p:pic>
        <p:nvPicPr>
          <p:cNvPr id="74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29" t="61755" r="34234" b="9822"/>
          <a:stretch/>
        </p:blipFill>
        <p:spPr bwMode="auto">
          <a:xfrm>
            <a:off x="2910840" y="2559906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テキスト ボックス 74"/>
          <p:cNvSpPr txBox="1"/>
          <p:nvPr/>
        </p:nvSpPr>
        <p:spPr>
          <a:xfrm>
            <a:off x="2798402" y="2257837"/>
            <a:ext cx="247375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>
                <a:solidFill>
                  <a:schemeClr val="bg1">
                    <a:lumMod val="50000"/>
                  </a:schemeClr>
                </a:solidFill>
              </a:rPr>
              <a:t>スパイスが決め手！居酒屋のから揚げ</a:t>
            </a:r>
          </a:p>
        </p:txBody>
      </p:sp>
      <p:sp>
        <p:nvSpPr>
          <p:cNvPr id="76" name="テキスト ボックス 75"/>
          <p:cNvSpPr txBox="1"/>
          <p:nvPr/>
        </p:nvSpPr>
        <p:spPr>
          <a:xfrm>
            <a:off x="4747174" y="2544802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調理時間：〇〇分</a:t>
            </a:r>
            <a:endParaRPr kumimoji="1" lang="en-US" altLang="ja-JP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77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8" t="34543" r="35815" b="37034"/>
          <a:stretch/>
        </p:blipFill>
        <p:spPr bwMode="auto">
          <a:xfrm>
            <a:off x="2910840" y="3602240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テキスト ボックス 77"/>
          <p:cNvSpPr txBox="1"/>
          <p:nvPr/>
        </p:nvSpPr>
        <p:spPr>
          <a:xfrm>
            <a:off x="2825762" y="3356827"/>
            <a:ext cx="22044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>
                <a:solidFill>
                  <a:schemeClr val="bg1">
                    <a:lumMod val="50000"/>
                  </a:schemeClr>
                </a:solidFill>
              </a:rPr>
              <a:t>もう失敗なし！基本のオムライス</a:t>
            </a:r>
          </a:p>
        </p:txBody>
      </p:sp>
      <p:sp>
        <p:nvSpPr>
          <p:cNvPr id="79" name="テキスト ボックス 78"/>
          <p:cNvSpPr txBox="1"/>
          <p:nvPr/>
        </p:nvSpPr>
        <p:spPr>
          <a:xfrm>
            <a:off x="4747174" y="3587136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調理時間：〇〇分</a:t>
            </a:r>
            <a:endParaRPr kumimoji="1" lang="en-US" altLang="ja-JP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0" name="Picture 8" descr="家庭料理イラスト｜無料イラスト・フリー素材なら「イラストAC」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05" t="34916" r="7358" b="36661"/>
          <a:stretch/>
        </p:blipFill>
        <p:spPr bwMode="auto">
          <a:xfrm>
            <a:off x="2910840" y="4644574"/>
            <a:ext cx="865759" cy="5810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テキスト ボックス 80"/>
          <p:cNvSpPr txBox="1"/>
          <p:nvPr/>
        </p:nvSpPr>
        <p:spPr>
          <a:xfrm>
            <a:off x="2825762" y="4398790"/>
            <a:ext cx="15311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b="1" dirty="0" err="1">
                <a:solidFill>
                  <a:schemeClr val="bg1">
                    <a:lumMod val="50000"/>
                  </a:schemeClr>
                </a:solidFill>
              </a:rPr>
              <a:t>ごま</a:t>
            </a:r>
            <a:r>
              <a:rPr kumimoji="1" lang="ja-JP" altLang="en-US" sz="1050" b="1" dirty="0">
                <a:solidFill>
                  <a:schemeClr val="bg1">
                    <a:lumMod val="50000"/>
                  </a:schemeClr>
                </a:solidFill>
              </a:rPr>
              <a:t>油香るチャーハン</a:t>
            </a:r>
          </a:p>
        </p:txBody>
      </p:sp>
      <p:sp>
        <p:nvSpPr>
          <p:cNvPr id="82" name="テキスト ボックス 81"/>
          <p:cNvSpPr txBox="1"/>
          <p:nvPr/>
        </p:nvSpPr>
        <p:spPr>
          <a:xfrm>
            <a:off x="4747174" y="4629470"/>
            <a:ext cx="2127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口コミ：★★★★☆　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〇〇件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材料：〇〇、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××</a:t>
            </a:r>
            <a:r>
              <a:rPr kumimoji="1" lang="ja-JP" altLang="en-US" sz="1100" dirty="0" err="1">
                <a:solidFill>
                  <a:schemeClr val="bg1">
                    <a:lumMod val="50000"/>
                  </a:schemeClr>
                </a:solidFill>
              </a:rPr>
              <a:t>、</a:t>
            </a:r>
            <a:r>
              <a:rPr kumimoji="1" lang="en-US" altLang="ja-JP" sz="1100" dirty="0">
                <a:solidFill>
                  <a:schemeClr val="bg1">
                    <a:lumMod val="50000"/>
                  </a:schemeClr>
                </a:solidFill>
              </a:rPr>
              <a:t>…</a:t>
            </a:r>
          </a:p>
          <a:p>
            <a:r>
              <a:rPr kumimoji="1" lang="ja-JP" altLang="en-US" sz="1100" dirty="0">
                <a:solidFill>
                  <a:schemeClr val="bg1">
                    <a:lumMod val="50000"/>
                  </a:schemeClr>
                </a:solidFill>
              </a:rPr>
              <a:t>調理時間：〇〇分</a:t>
            </a:r>
            <a:endParaRPr kumimoji="1" lang="en-US" altLang="ja-JP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7" name="グループ化 56"/>
          <p:cNvGrpSpPr/>
          <p:nvPr/>
        </p:nvGrpSpPr>
        <p:grpSpPr>
          <a:xfrm>
            <a:off x="5628407" y="1285262"/>
            <a:ext cx="897972" cy="232310"/>
            <a:chOff x="7403142" y="1665576"/>
            <a:chExt cx="988658" cy="268208"/>
          </a:xfrm>
        </p:grpSpPr>
        <p:pic>
          <p:nvPicPr>
            <p:cNvPr id="20" name="図 19"/>
            <p:cNvPicPr>
              <a:picLocks noChangeAspect="1"/>
            </p:cNvPicPr>
            <p:nvPr/>
          </p:nvPicPr>
          <p:blipFill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46" name="テキスト ボックス 45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</a:p>
          </p:txBody>
        </p:sp>
      </p:grpSp>
      <p:grpSp>
        <p:nvGrpSpPr>
          <p:cNvPr id="83" name="グループ化 82"/>
          <p:cNvGrpSpPr/>
          <p:nvPr/>
        </p:nvGrpSpPr>
        <p:grpSpPr>
          <a:xfrm>
            <a:off x="5624740" y="2250494"/>
            <a:ext cx="897972" cy="232310"/>
            <a:chOff x="7403142" y="1665576"/>
            <a:chExt cx="988658" cy="268208"/>
          </a:xfrm>
        </p:grpSpPr>
        <p:pic>
          <p:nvPicPr>
            <p:cNvPr id="84" name="図 83"/>
            <p:cNvPicPr>
              <a:picLocks noChangeAspect="1"/>
            </p:cNvPicPr>
            <p:nvPr/>
          </p:nvPicPr>
          <p:blipFill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85" name="テキスト ボックス 84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</a:p>
          </p:txBody>
        </p:sp>
      </p:grpSp>
      <p:grpSp>
        <p:nvGrpSpPr>
          <p:cNvPr id="86" name="グループ化 85"/>
          <p:cNvGrpSpPr/>
          <p:nvPr/>
        </p:nvGrpSpPr>
        <p:grpSpPr>
          <a:xfrm>
            <a:off x="5628407" y="3350450"/>
            <a:ext cx="897972" cy="232310"/>
            <a:chOff x="7403142" y="1665576"/>
            <a:chExt cx="988658" cy="268208"/>
          </a:xfrm>
        </p:grpSpPr>
        <p:pic>
          <p:nvPicPr>
            <p:cNvPr id="87" name="図 86"/>
            <p:cNvPicPr>
              <a:picLocks noChangeAspect="1"/>
            </p:cNvPicPr>
            <p:nvPr/>
          </p:nvPicPr>
          <p:blipFill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88" name="テキスト ボックス 87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</a:p>
          </p:txBody>
        </p:sp>
      </p:grpSp>
      <p:grpSp>
        <p:nvGrpSpPr>
          <p:cNvPr id="89" name="グループ化 88"/>
          <p:cNvGrpSpPr/>
          <p:nvPr/>
        </p:nvGrpSpPr>
        <p:grpSpPr>
          <a:xfrm>
            <a:off x="5628407" y="4380979"/>
            <a:ext cx="897972" cy="232310"/>
            <a:chOff x="7403142" y="1665576"/>
            <a:chExt cx="988658" cy="268208"/>
          </a:xfrm>
        </p:grpSpPr>
        <p:pic>
          <p:nvPicPr>
            <p:cNvPr id="90" name="図 89"/>
            <p:cNvPicPr>
              <a:picLocks noChangeAspect="1"/>
            </p:cNvPicPr>
            <p:nvPr/>
          </p:nvPicPr>
          <p:blipFill>
            <a:blip r:embed="rId8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403142" y="1665576"/>
              <a:ext cx="254429" cy="254429"/>
            </a:xfrm>
            <a:prstGeom prst="rect">
              <a:avLst/>
            </a:prstGeom>
          </p:spPr>
        </p:pic>
        <p:sp>
          <p:nvSpPr>
            <p:cNvPr id="91" name="テキスト ボックス 90"/>
            <p:cNvSpPr txBox="1"/>
            <p:nvPr/>
          </p:nvSpPr>
          <p:spPr>
            <a:xfrm>
              <a:off x="7553124" y="1667282"/>
              <a:ext cx="838676" cy="2665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900" dirty="0">
                  <a:solidFill>
                    <a:schemeClr val="bg1">
                      <a:lumMod val="50000"/>
                    </a:schemeClr>
                  </a:solidFill>
                </a:rPr>
                <a:t>お気に入り</a:t>
              </a:r>
            </a:p>
          </p:txBody>
        </p:sp>
      </p:grpSp>
      <p:sp>
        <p:nvSpPr>
          <p:cNvPr id="71" name="山形 70"/>
          <p:cNvSpPr/>
          <p:nvPr/>
        </p:nvSpPr>
        <p:spPr>
          <a:xfrm rot="5400000">
            <a:off x="8481236" y="5357981"/>
            <a:ext cx="47617" cy="239429"/>
          </a:xfrm>
          <a:prstGeom prst="chevron">
            <a:avLst>
              <a:gd name="adj" fmla="val 74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4" name="山形 93"/>
          <p:cNvSpPr/>
          <p:nvPr/>
        </p:nvSpPr>
        <p:spPr>
          <a:xfrm rot="5400000">
            <a:off x="8479267" y="5326918"/>
            <a:ext cx="47617" cy="239429"/>
          </a:xfrm>
          <a:prstGeom prst="chevron">
            <a:avLst>
              <a:gd name="adj" fmla="val 74490"/>
            </a:avLst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811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B5C2152-1926-0D55-516A-2A9D58F87E98}"/>
              </a:ext>
            </a:extLst>
          </p:cNvPr>
          <p:cNvSpPr txBox="1"/>
          <p:nvPr/>
        </p:nvSpPr>
        <p:spPr>
          <a:xfrm>
            <a:off x="310551" y="448574"/>
            <a:ext cx="85401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★セラさんの要望★</a:t>
            </a:r>
            <a:endParaRPr kumimoji="1" lang="en-US" altLang="ja-JP" dirty="0"/>
          </a:p>
          <a:p>
            <a:r>
              <a:rPr kumimoji="1" lang="ja-JP" altLang="en-US" dirty="0"/>
              <a:t>・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レシピの検索窓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ジャンル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調理時間</a:t>
            </a:r>
            <a:r>
              <a:rPr lang="ja-JP" altLang="en-US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食材数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で絞り込める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/>
              <a:t>・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お気に入り登録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口コミ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投稿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会員登録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マイページ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機能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ランキング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、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おすすめのレシピ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がでてくる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ja-JP" altLang="en-US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　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ja-JP" altLang="ja-JP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隠したりまた表示させたり自由にできる</a:t>
            </a:r>
            <a:r>
              <a:rPr lang="ja-JP" alt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rPr>
              <a:t>）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25E2C9-375F-D270-A7BB-4C7E6F3A7505}"/>
              </a:ext>
            </a:extLst>
          </p:cNvPr>
          <p:cNvSpPr txBox="1"/>
          <p:nvPr/>
        </p:nvSpPr>
        <p:spPr>
          <a:xfrm>
            <a:off x="462950" y="3119887"/>
            <a:ext cx="85401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★ポイント★</a:t>
            </a:r>
            <a:endParaRPr kumimoji="1" lang="en-US" altLang="ja-JP" dirty="0"/>
          </a:p>
          <a:p>
            <a:r>
              <a:rPr kumimoji="1" lang="ja-JP" altLang="en-US" dirty="0"/>
              <a:t>・検索窓はいつでも検索できるようにしたり、</a:t>
            </a:r>
            <a:endParaRPr kumimoji="1" lang="en-US" altLang="ja-JP" dirty="0"/>
          </a:p>
          <a:p>
            <a:r>
              <a:rPr kumimoji="1" lang="ja-JP" altLang="en-US" dirty="0"/>
              <a:t>　検索した情報がなんだったかわかるようにしたりするために</a:t>
            </a:r>
            <a:endParaRPr kumimoji="1" lang="en-US" altLang="ja-JP" dirty="0"/>
          </a:p>
          <a:p>
            <a:r>
              <a:rPr kumimoji="1" lang="ja-JP" altLang="en-US" dirty="0"/>
              <a:t>　固定で表示されるようにしている。</a:t>
            </a:r>
            <a:endParaRPr kumimoji="1" lang="en-US" altLang="ja-JP" dirty="0"/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・アイコン（画像）を使うことによって、ユーザーがより分かりやすく</a:t>
            </a: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　直観的に何のボタンなのかをわかるようにしている。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/>
              <a:t>・すべてのチェックができるようにしている。</a:t>
            </a:r>
            <a:endParaRPr lang="en-US" altLang="ja-JP" sz="1800" b="0" i="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・ランキングのところで、もっと見たいときようにスクロール、スライドして</a:t>
            </a: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　見れるようにしている。</a:t>
            </a: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kumimoji="1" lang="ja-JP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・検索結果が〇件とか、口コミが〇件とかあると親切。</a:t>
            </a:r>
            <a:endParaRPr kumimoji="1" lang="en-US" altLang="ja-JP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5781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青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385</TotalTime>
  <Words>440</Words>
  <Application>Microsoft Office PowerPoint</Application>
  <PresentationFormat>画面に合わせる (4:3)</PresentationFormat>
  <Paragraphs>114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ＭＳ Ｐゴシック</vt:lpstr>
      <vt:lpstr>游ゴシック</vt:lpstr>
      <vt:lpstr>游ゴシック Light</vt:lpstr>
      <vt:lpstr>Arial</vt:lpstr>
      <vt:lpstr>Edwardian Script ITC</vt:lpstr>
      <vt:lpstr>Office テーマ</vt:lpstr>
      <vt:lpstr>画面表示内容</vt:lpstr>
      <vt:lpstr>PowerPoint プレゼンテーション</vt:lpstr>
      <vt:lpstr>PowerPoint プレゼンテーション</vt:lpstr>
    </vt:vector>
  </TitlesOfParts>
  <Company>HPC016085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吉永　瑞季</dc:creator>
  <cp:lastModifiedBy>かなた 大迫</cp:lastModifiedBy>
  <cp:revision>19</cp:revision>
  <dcterms:created xsi:type="dcterms:W3CDTF">2024-10-10T05:58:12Z</dcterms:created>
  <dcterms:modified xsi:type="dcterms:W3CDTF">2024-11-22T00:10:49Z</dcterms:modified>
</cp:coreProperties>
</file>